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HK Grotesk" pitchFamily="2" charset="77"/>
      <p:regular r:id="rId13"/>
    </p:embeddedFont>
    <p:embeddedFont>
      <p:font typeface="HK Grotesk Bold" pitchFamily="2" charset="77"/>
      <p:regular r:id="rId14"/>
      <p:bold r:id="rId15"/>
    </p:embeddedFont>
    <p:embeddedFont>
      <p:font typeface="Lora" pitchFamily="2" charset="77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 autoAdjust="0"/>
    <p:restoredTop sz="94589" autoAdjust="0"/>
  </p:normalViewPr>
  <p:slideViewPr>
    <p:cSldViewPr>
      <p:cViewPr varScale="1">
        <p:scale>
          <a:sx n="80" d="100"/>
          <a:sy n="80" d="100"/>
        </p:scale>
        <p:origin x="408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10" Type="http://schemas.openxmlformats.org/officeDocument/2006/relationships/image" Target="../media/image15.sv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2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31.png"/><Relationship Id="rId3" Type="http://schemas.openxmlformats.org/officeDocument/2006/relationships/image" Target="../media/image17.svg"/><Relationship Id="rId7" Type="http://schemas.openxmlformats.org/officeDocument/2006/relationships/image" Target="../media/image25.png"/><Relationship Id="rId12" Type="http://schemas.openxmlformats.org/officeDocument/2006/relationships/image" Target="../media/image30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4.svg"/><Relationship Id="rId10" Type="http://schemas.openxmlformats.org/officeDocument/2006/relationships/image" Target="../media/image28.svg"/><Relationship Id="rId4" Type="http://schemas.openxmlformats.org/officeDocument/2006/relationships/image" Target="../media/image3.png"/><Relationship Id="rId9" Type="http://schemas.openxmlformats.org/officeDocument/2006/relationships/image" Target="../media/image27.png"/><Relationship Id="rId14" Type="http://schemas.openxmlformats.org/officeDocument/2006/relationships/image" Target="../media/image3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svg"/><Relationship Id="rId7" Type="http://schemas.openxmlformats.org/officeDocument/2006/relationships/image" Target="../media/image38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svg"/><Relationship Id="rId4" Type="http://schemas.openxmlformats.org/officeDocument/2006/relationships/image" Target="../media/image35.png"/><Relationship Id="rId9" Type="http://schemas.openxmlformats.org/officeDocument/2006/relationships/image" Target="../media/image4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svg"/><Relationship Id="rId4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3B8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252964" y="4300659"/>
            <a:ext cx="3782072" cy="3782072"/>
          </a:xfrm>
          <a:custGeom>
            <a:avLst/>
            <a:gdLst/>
            <a:ahLst/>
            <a:cxnLst/>
            <a:rect l="l" t="t" r="r" b="b"/>
            <a:pathLst>
              <a:path w="3782072" h="3782072">
                <a:moveTo>
                  <a:pt x="0" y="0"/>
                </a:moveTo>
                <a:lnTo>
                  <a:pt x="3782072" y="0"/>
                </a:lnTo>
                <a:lnTo>
                  <a:pt x="3782072" y="3782072"/>
                </a:lnTo>
                <a:lnTo>
                  <a:pt x="0" y="37820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6102" t="-57288" r="-55962" b="-5560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62889" y="769124"/>
            <a:ext cx="17362221" cy="1690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1"/>
              </a:lnSpc>
            </a:pPr>
            <a:r>
              <a:rPr lang="en-US" sz="6399" spc="-63">
                <a:solidFill>
                  <a:srgbClr val="264C3D"/>
                </a:solidFill>
                <a:latin typeface="Lora"/>
                <a:ea typeface="Lora"/>
                <a:cs typeface="Lora"/>
                <a:sym typeface="Lora"/>
              </a:rPr>
              <a:t>Distilled Human Judgment for Public Goods Funding (DHJ)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891822" y="3050111"/>
            <a:ext cx="6504356" cy="40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60"/>
              </a:lnSpc>
            </a:pPr>
            <a:r>
              <a:rPr lang="en-US" sz="2400" spc="9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Aligning LLM Voters t</a:t>
            </a:r>
            <a:r>
              <a:rPr lang="en-US" sz="2400" u="none" spc="9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 Human Juror Values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478771" y="8178934"/>
            <a:ext cx="4174257" cy="1564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spc="72">
                <a:solidFill>
                  <a:srgbClr val="264C3D"/>
                </a:solidFill>
                <a:latin typeface="HK Grotesk"/>
                <a:ea typeface="HK Grotesk"/>
                <a:cs typeface="HK Grotesk"/>
                <a:sym typeface="HK Grotesk"/>
              </a:rPr>
              <a:t>Author: </a:t>
            </a:r>
          </a:p>
          <a:p>
            <a:pPr algn="ctr">
              <a:lnSpc>
                <a:spcPts val="2520"/>
              </a:lnSpc>
            </a:pPr>
            <a:r>
              <a:rPr lang="en-US" sz="1800" spc="72">
                <a:solidFill>
                  <a:srgbClr val="264C3D"/>
                </a:solidFill>
                <a:latin typeface="HK Grotesk"/>
                <a:ea typeface="HK Grotesk"/>
                <a:cs typeface="HK Grotesk"/>
                <a:sym typeface="HK Grotesk"/>
              </a:rPr>
              <a:t>Arsen Rundytskyi</a:t>
            </a:r>
          </a:p>
          <a:p>
            <a:pPr algn="ctr">
              <a:lnSpc>
                <a:spcPts val="2520"/>
              </a:lnSpc>
            </a:pPr>
            <a:r>
              <a:rPr lang="en-US" sz="1800" spc="72">
                <a:solidFill>
                  <a:srgbClr val="264C3D"/>
                </a:solidFill>
                <a:latin typeface="HK Grotesk"/>
                <a:ea typeface="HK Grotesk"/>
                <a:cs typeface="HK Grotesk"/>
                <a:sym typeface="HK Grotesk"/>
              </a:rPr>
              <a:t>Supervisor:</a:t>
            </a:r>
          </a:p>
          <a:p>
            <a:pPr algn="ctr">
              <a:lnSpc>
                <a:spcPts val="2520"/>
              </a:lnSpc>
            </a:pPr>
            <a:r>
              <a:rPr lang="en-US" sz="1800" spc="72">
                <a:solidFill>
                  <a:srgbClr val="264C3D"/>
                </a:solidFill>
                <a:latin typeface="HK Grotesk"/>
                <a:ea typeface="HK Grotesk"/>
                <a:cs typeface="HK Grotesk"/>
                <a:sym typeface="HK Grotesk"/>
              </a:rPr>
              <a:t>dr hab. Andrzej Wodecki, prof. PJATK</a:t>
            </a:r>
          </a:p>
          <a:p>
            <a:pPr marL="0" lvl="0" indent="0" algn="ctr">
              <a:lnSpc>
                <a:spcPts val="2520"/>
              </a:lnSpc>
            </a:pPr>
            <a:endParaRPr lang="en-US" sz="1800" spc="72">
              <a:solidFill>
                <a:srgbClr val="264C3D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8178934"/>
            <a:ext cx="4467832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spc="72">
                <a:solidFill>
                  <a:srgbClr val="264C3D"/>
                </a:solidFill>
                <a:latin typeface="HK Grotesk"/>
                <a:ea typeface="HK Grotesk"/>
                <a:cs typeface="HK Grotesk"/>
                <a:sym typeface="HK Grotesk"/>
              </a:rPr>
              <a:t>Warsaw, 2026</a:t>
            </a:r>
          </a:p>
          <a:p>
            <a:pPr marL="0" lvl="0" indent="0" algn="ctr">
              <a:lnSpc>
                <a:spcPts val="2520"/>
              </a:lnSpc>
            </a:pPr>
            <a:r>
              <a:rPr lang="en-US" sz="1800" spc="72">
                <a:solidFill>
                  <a:srgbClr val="264C3D"/>
                </a:solidFill>
                <a:latin typeface="HK Grotesk"/>
                <a:ea typeface="HK Grotesk"/>
                <a:cs typeface="HK Grotesk"/>
                <a:sym typeface="HK Grotesk"/>
              </a:rPr>
              <a:t>IT - Intelligent Systems and Data Science</a:t>
            </a:r>
          </a:p>
        </p:txBody>
      </p:sp>
      <p:sp>
        <p:nvSpPr>
          <p:cNvPr id="7" name="AutoShape 7"/>
          <p:cNvSpPr/>
          <p:nvPr/>
        </p:nvSpPr>
        <p:spPr>
          <a:xfrm>
            <a:off x="4809229" y="2841524"/>
            <a:ext cx="8669543" cy="0"/>
          </a:xfrm>
          <a:prstGeom prst="line">
            <a:avLst/>
          </a:prstGeom>
          <a:ln w="19050" cap="flat">
            <a:solidFill>
              <a:srgbClr val="FBFBF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95375"/>
            <a:ext cx="16230600" cy="114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</a:pPr>
            <a:r>
              <a:rPr lang="en-US" sz="8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Problem of democratic structures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585304" y="3846508"/>
            <a:ext cx="12186161" cy="480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</a:pPr>
            <a:r>
              <a:rPr lang="en-US" sz="28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Avoid con</a:t>
            </a:r>
            <a:r>
              <a:rPr lang="en-US" sz="2800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centration of power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85304" y="5880529"/>
            <a:ext cx="12186161" cy="480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</a:pPr>
            <a:r>
              <a:rPr lang="en-US" sz="28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L</a:t>
            </a:r>
            <a:r>
              <a:rPr lang="en-US" sz="2800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ow participation and low-effort voting in practice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5304" y="7791838"/>
            <a:ext cx="12186161" cy="480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P</a:t>
            </a:r>
            <a:r>
              <a:rPr lang="en-US" sz="2799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ower recentralizes in a few trusted people and popular voices</a:t>
            </a:r>
          </a:p>
        </p:txBody>
      </p:sp>
      <p:sp>
        <p:nvSpPr>
          <p:cNvPr id="6" name="Auto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08155" y="4087097"/>
            <a:ext cx="74483" cy="3973647"/>
          </a:xfrm>
          <a:prstGeom prst="rect">
            <a:avLst/>
          </a:prstGeom>
          <a:solidFill>
            <a:srgbClr val="264C3D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59646" y="3829664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59646" y="5863685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59646" y="7744319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410745" y="1028700"/>
            <a:ext cx="16299083" cy="16299083"/>
          </a:xfrm>
          <a:custGeom>
            <a:avLst/>
            <a:gdLst/>
            <a:ahLst/>
            <a:cxnLst/>
            <a:rect l="l" t="t" r="r" b="b"/>
            <a:pathLst>
              <a:path w="16299083" h="16299083">
                <a:moveTo>
                  <a:pt x="0" y="0"/>
                </a:moveTo>
                <a:lnTo>
                  <a:pt x="16299083" y="0"/>
                </a:lnTo>
                <a:lnTo>
                  <a:pt x="16299083" y="16299083"/>
                </a:lnTo>
                <a:lnTo>
                  <a:pt x="0" y="16299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00075" y="800100"/>
            <a:ext cx="14742765" cy="114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</a:pPr>
            <a:r>
              <a:rPr lang="en-US" sz="8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Example of such problem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69295"/>
            <a:ext cx="9394860" cy="1706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</a:pPr>
            <a:r>
              <a:rPr lang="en-US" sz="8000">
                <a:solidFill>
                  <a:srgbClr val="264C3D"/>
                </a:solidFill>
                <a:latin typeface="Lora"/>
                <a:ea typeface="Lora"/>
                <a:cs typeface="Lora"/>
                <a:sym typeface="Lora"/>
              </a:rPr>
              <a:t>S</a:t>
            </a:r>
            <a:r>
              <a:rPr lang="en-US" sz="8000" u="none">
                <a:solidFill>
                  <a:srgbClr val="264C3D"/>
                </a:solidFill>
                <a:latin typeface="Lora"/>
                <a:ea typeface="Lora"/>
                <a:cs typeface="Lora"/>
                <a:sym typeface="Lora"/>
              </a:rPr>
              <a:t>olution overview:</a:t>
            </a:r>
          </a:p>
          <a:p>
            <a:pPr marL="0" lvl="0" indent="0" algn="l">
              <a:lnSpc>
                <a:spcPts val="4620"/>
              </a:lnSpc>
            </a:pPr>
            <a:r>
              <a:rPr lang="en-US" sz="4200" u="none">
                <a:solidFill>
                  <a:srgbClr val="264C3D"/>
                </a:solidFill>
                <a:latin typeface="Lora"/>
                <a:ea typeface="Lora"/>
                <a:cs typeface="Lora"/>
                <a:sym typeface="Lora"/>
              </a:rPr>
              <a:t>Distilled Human Judgment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81525" y="3861149"/>
            <a:ext cx="5142915" cy="614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47"/>
              </a:lnSpc>
              <a:spcBef>
                <a:spcPct val="0"/>
              </a:spcBef>
            </a:pPr>
            <a:r>
              <a:rPr lang="en-US" sz="2039">
                <a:solidFill>
                  <a:srgbClr val="264C3D"/>
                </a:solidFill>
                <a:latin typeface="HK Grotesk"/>
                <a:ea typeface="HK Grotesk"/>
                <a:cs typeface="HK Grotesk"/>
                <a:sym typeface="HK Grotesk"/>
              </a:rPr>
              <a:t>Small ju</a:t>
            </a:r>
            <a:r>
              <a:rPr lang="en-US" sz="2039" u="none">
                <a:solidFill>
                  <a:srgbClr val="264C3D"/>
                </a:solidFill>
                <a:latin typeface="HK Grotesk"/>
                <a:ea typeface="HK Grotesk"/>
                <a:cs typeface="HK Grotesk"/>
                <a:sym typeface="HK Grotesk"/>
              </a:rPr>
              <a:t>ry labels a subset of decisions </a:t>
            </a:r>
          </a:p>
          <a:p>
            <a:pPr marL="0" lvl="0" indent="0" algn="l">
              <a:lnSpc>
                <a:spcPts val="2447"/>
              </a:lnSpc>
              <a:spcBef>
                <a:spcPct val="0"/>
              </a:spcBef>
            </a:pPr>
            <a:r>
              <a:rPr lang="en-US" sz="2039" u="none">
                <a:solidFill>
                  <a:srgbClr val="264C3D"/>
                </a:solidFill>
                <a:latin typeface="HK Grotesk"/>
                <a:ea typeface="HK Grotesk"/>
                <a:cs typeface="HK Grotesk"/>
                <a:sym typeface="HK Grotesk"/>
              </a:rPr>
              <a:t>(high-quality human signal)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81525" y="5777735"/>
            <a:ext cx="5142915" cy="614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47"/>
              </a:lnSpc>
              <a:spcBef>
                <a:spcPct val="0"/>
              </a:spcBef>
            </a:pPr>
            <a:r>
              <a:rPr lang="en-US" sz="2039">
                <a:solidFill>
                  <a:srgbClr val="264C3D"/>
                </a:solidFill>
                <a:latin typeface="HK Grotesk"/>
                <a:ea typeface="HK Grotesk"/>
                <a:cs typeface="HK Grotesk"/>
                <a:sym typeface="HK Grotesk"/>
              </a:rPr>
              <a:t>Many AI models scor</a:t>
            </a:r>
            <a:r>
              <a:rPr lang="en-US" sz="2039" u="none">
                <a:solidFill>
                  <a:srgbClr val="264C3D"/>
                </a:solidFill>
                <a:latin typeface="HK Grotesk"/>
                <a:ea typeface="HK Grotesk"/>
                <a:cs typeface="HK Grotesk"/>
                <a:sym typeface="HK Grotesk"/>
              </a:rPr>
              <a:t>e everything</a:t>
            </a:r>
          </a:p>
          <a:p>
            <a:pPr marL="0" lvl="0" indent="0" algn="l">
              <a:lnSpc>
                <a:spcPts val="2447"/>
              </a:lnSpc>
              <a:spcBef>
                <a:spcPct val="0"/>
              </a:spcBef>
            </a:pPr>
            <a:r>
              <a:rPr lang="en-US" sz="2039" u="none">
                <a:solidFill>
                  <a:srgbClr val="264C3D"/>
                </a:solidFill>
                <a:latin typeface="HK Grotesk"/>
                <a:ea typeface="HK Grotesk"/>
                <a:cs typeface="HK Grotesk"/>
                <a:sym typeface="HK Grotesk"/>
              </a:rPr>
              <a:t>(scale)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681525" y="7514236"/>
            <a:ext cx="5142915" cy="921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47"/>
              </a:lnSpc>
              <a:spcBef>
                <a:spcPct val="0"/>
              </a:spcBef>
            </a:pPr>
            <a:r>
              <a:rPr lang="en-US" sz="2039">
                <a:solidFill>
                  <a:srgbClr val="264C3D"/>
                </a:solidFill>
                <a:latin typeface="HK Grotesk"/>
                <a:ea typeface="HK Grotesk"/>
                <a:cs typeface="HK Grotesk"/>
                <a:sym typeface="HK Grotesk"/>
              </a:rPr>
              <a:t>L</a:t>
            </a:r>
            <a:r>
              <a:rPr lang="en-US" sz="2039" u="none">
                <a:solidFill>
                  <a:srgbClr val="264C3D"/>
                </a:solidFill>
                <a:latin typeface="HK Grotesk"/>
                <a:ea typeface="HK Grotesk"/>
                <a:cs typeface="HK Grotesk"/>
                <a:sym typeface="HK Grotesk"/>
              </a:rPr>
              <a:t>earn an ensemble that best matches</a:t>
            </a:r>
          </a:p>
          <a:p>
            <a:pPr marL="0" lvl="0" indent="0" algn="l">
              <a:lnSpc>
                <a:spcPts val="2447"/>
              </a:lnSpc>
              <a:spcBef>
                <a:spcPct val="0"/>
              </a:spcBef>
            </a:pPr>
            <a:r>
              <a:rPr lang="en-US" sz="2039" u="none">
                <a:solidFill>
                  <a:srgbClr val="264C3D"/>
                </a:solidFill>
                <a:latin typeface="HK Grotesk"/>
                <a:ea typeface="HK Grotesk"/>
                <a:cs typeface="HK Grotesk"/>
                <a:sym typeface="HK Grotesk"/>
              </a:rPr>
              <a:t>human judgments </a:t>
            </a:r>
          </a:p>
          <a:p>
            <a:pPr marL="0" lvl="0" indent="0" algn="l">
              <a:lnSpc>
                <a:spcPts val="2447"/>
              </a:lnSpc>
              <a:spcBef>
                <a:spcPct val="0"/>
              </a:spcBef>
            </a:pPr>
            <a:r>
              <a:rPr lang="en-US" sz="2039" u="none">
                <a:solidFill>
                  <a:srgbClr val="264C3D"/>
                </a:solidFill>
                <a:latin typeface="HK Grotesk"/>
                <a:ea typeface="HK Grotesk"/>
                <a:cs typeface="HK Grotesk"/>
                <a:sym typeface="HK Grotesk"/>
              </a:rPr>
              <a:t>(alignment step)</a:t>
            </a:r>
          </a:p>
        </p:txBody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8700" y="5497001"/>
            <a:ext cx="1134481" cy="1175872"/>
          </a:xfrm>
          <a:custGeom>
            <a:avLst/>
            <a:gdLst/>
            <a:ahLst/>
            <a:cxnLst/>
            <a:rect l="l" t="t" r="r" b="b"/>
            <a:pathLst>
              <a:path w="1134481" h="1175872">
                <a:moveTo>
                  <a:pt x="0" y="0"/>
                </a:moveTo>
                <a:lnTo>
                  <a:pt x="1134481" y="0"/>
                </a:lnTo>
                <a:lnTo>
                  <a:pt x="1134481" y="1175872"/>
                </a:lnTo>
                <a:lnTo>
                  <a:pt x="0" y="1175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8700" y="7387103"/>
            <a:ext cx="1134481" cy="1175872"/>
          </a:xfrm>
          <a:custGeom>
            <a:avLst/>
            <a:gdLst/>
            <a:ahLst/>
            <a:cxnLst/>
            <a:rect l="l" t="t" r="r" b="b"/>
            <a:pathLst>
              <a:path w="1134481" h="1175872">
                <a:moveTo>
                  <a:pt x="0" y="0"/>
                </a:moveTo>
                <a:lnTo>
                  <a:pt x="1134481" y="0"/>
                </a:lnTo>
                <a:lnTo>
                  <a:pt x="1134481" y="1175872"/>
                </a:lnTo>
                <a:lnTo>
                  <a:pt x="0" y="1175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8700" y="3580416"/>
            <a:ext cx="1134481" cy="1175872"/>
          </a:xfrm>
          <a:custGeom>
            <a:avLst/>
            <a:gdLst/>
            <a:ahLst/>
            <a:cxnLst/>
            <a:rect l="l" t="t" r="r" b="b"/>
            <a:pathLst>
              <a:path w="1134481" h="1175872">
                <a:moveTo>
                  <a:pt x="0" y="0"/>
                </a:moveTo>
                <a:lnTo>
                  <a:pt x="1134481" y="0"/>
                </a:lnTo>
                <a:lnTo>
                  <a:pt x="1134481" y="1175872"/>
                </a:lnTo>
                <a:lnTo>
                  <a:pt x="0" y="1175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 descr="a lined icon of a gear"/>
          <p:cNvSpPr/>
          <p:nvPr/>
        </p:nvSpPr>
        <p:spPr>
          <a:xfrm>
            <a:off x="1285872" y="7666521"/>
            <a:ext cx="620138" cy="617037"/>
          </a:xfrm>
          <a:custGeom>
            <a:avLst/>
            <a:gdLst/>
            <a:ahLst/>
            <a:cxnLst/>
            <a:rect l="l" t="t" r="r" b="b"/>
            <a:pathLst>
              <a:path w="620138" h="617037">
                <a:moveTo>
                  <a:pt x="0" y="0"/>
                </a:moveTo>
                <a:lnTo>
                  <a:pt x="620137" y="0"/>
                </a:lnTo>
                <a:lnTo>
                  <a:pt x="620137" y="617036"/>
                </a:lnTo>
                <a:lnTo>
                  <a:pt x="0" y="6170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9144000" y="1705128"/>
            <a:ext cx="8115300" cy="6943572"/>
          </a:xfrm>
          <a:custGeom>
            <a:avLst/>
            <a:gdLst/>
            <a:ahLst/>
            <a:cxnLst/>
            <a:rect l="l" t="t" r="r" b="b"/>
            <a:pathLst>
              <a:path w="8115300" h="6943572">
                <a:moveTo>
                  <a:pt x="0" y="0"/>
                </a:moveTo>
                <a:lnTo>
                  <a:pt x="8115300" y="0"/>
                </a:lnTo>
                <a:lnTo>
                  <a:pt x="8115300" y="6943572"/>
                </a:lnTo>
                <a:lnTo>
                  <a:pt x="0" y="6943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 descr="a flat lined icon of a finger print"/>
          <p:cNvSpPr/>
          <p:nvPr/>
        </p:nvSpPr>
        <p:spPr>
          <a:xfrm>
            <a:off x="1359688" y="3738801"/>
            <a:ext cx="472506" cy="859101"/>
          </a:xfrm>
          <a:custGeom>
            <a:avLst/>
            <a:gdLst/>
            <a:ahLst/>
            <a:cxnLst/>
            <a:rect l="l" t="t" r="r" b="b"/>
            <a:pathLst>
              <a:path w="472506" h="859101">
                <a:moveTo>
                  <a:pt x="0" y="0"/>
                </a:moveTo>
                <a:lnTo>
                  <a:pt x="472506" y="0"/>
                </a:lnTo>
                <a:lnTo>
                  <a:pt x="472506" y="859101"/>
                </a:lnTo>
                <a:lnTo>
                  <a:pt x="0" y="8591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 descr="a flat lined icon of documents"/>
          <p:cNvSpPr/>
          <p:nvPr/>
        </p:nvSpPr>
        <p:spPr>
          <a:xfrm>
            <a:off x="1285872" y="5759076"/>
            <a:ext cx="638000" cy="625240"/>
          </a:xfrm>
          <a:custGeom>
            <a:avLst/>
            <a:gdLst/>
            <a:ahLst/>
            <a:cxnLst/>
            <a:rect l="l" t="t" r="r" b="b"/>
            <a:pathLst>
              <a:path w="638000" h="625240">
                <a:moveTo>
                  <a:pt x="0" y="0"/>
                </a:moveTo>
                <a:lnTo>
                  <a:pt x="637999" y="0"/>
                </a:lnTo>
                <a:lnTo>
                  <a:pt x="637999" y="625239"/>
                </a:lnTo>
                <a:lnTo>
                  <a:pt x="0" y="62523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6011" y="3423955"/>
            <a:ext cx="7747777" cy="1039544"/>
            <a:chOff x="0" y="0"/>
            <a:chExt cx="2635735" cy="3536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35735" cy="353645"/>
            </a:xfrm>
            <a:custGeom>
              <a:avLst/>
              <a:gdLst/>
              <a:ahLst/>
              <a:cxnLst/>
              <a:rect l="l" t="t" r="r" b="b"/>
              <a:pathLst>
                <a:path w="2635735" h="353645">
                  <a:moveTo>
                    <a:pt x="0" y="0"/>
                  </a:moveTo>
                  <a:lnTo>
                    <a:pt x="2635735" y="0"/>
                  </a:lnTo>
                  <a:lnTo>
                    <a:pt x="2635735" y="353645"/>
                  </a:lnTo>
                  <a:lnTo>
                    <a:pt x="0" y="3536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635735" cy="401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36011" y="4771761"/>
            <a:ext cx="7747777" cy="1039544"/>
            <a:chOff x="0" y="0"/>
            <a:chExt cx="2635735" cy="35364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35735" cy="353645"/>
            </a:xfrm>
            <a:custGeom>
              <a:avLst/>
              <a:gdLst/>
              <a:ahLst/>
              <a:cxnLst/>
              <a:rect l="l" t="t" r="r" b="b"/>
              <a:pathLst>
                <a:path w="2635735" h="353645">
                  <a:moveTo>
                    <a:pt x="0" y="0"/>
                  </a:moveTo>
                  <a:lnTo>
                    <a:pt x="2635735" y="0"/>
                  </a:lnTo>
                  <a:lnTo>
                    <a:pt x="2635735" y="353645"/>
                  </a:lnTo>
                  <a:lnTo>
                    <a:pt x="0" y="3536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635735" cy="401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19318" y="3423955"/>
            <a:ext cx="7747777" cy="2387350"/>
            <a:chOff x="0" y="0"/>
            <a:chExt cx="2635735" cy="81215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35735" cy="812159"/>
            </a:xfrm>
            <a:custGeom>
              <a:avLst/>
              <a:gdLst/>
              <a:ahLst/>
              <a:cxnLst/>
              <a:rect l="l" t="t" r="r" b="b"/>
              <a:pathLst>
                <a:path w="2635735" h="812159">
                  <a:moveTo>
                    <a:pt x="0" y="0"/>
                  </a:moveTo>
                  <a:lnTo>
                    <a:pt x="2635735" y="0"/>
                  </a:lnTo>
                  <a:lnTo>
                    <a:pt x="2635735" y="812159"/>
                  </a:lnTo>
                  <a:lnTo>
                    <a:pt x="0" y="81215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635735" cy="859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539956" y="3341157"/>
            <a:ext cx="2923194" cy="2470148"/>
            <a:chOff x="0" y="0"/>
            <a:chExt cx="994448" cy="84032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94449" cy="840326"/>
            </a:xfrm>
            <a:custGeom>
              <a:avLst/>
              <a:gdLst/>
              <a:ahLst/>
              <a:cxnLst/>
              <a:rect l="l" t="t" r="r" b="b"/>
              <a:pathLst>
                <a:path w="994449" h="840326">
                  <a:moveTo>
                    <a:pt x="90047" y="0"/>
                  </a:moveTo>
                  <a:lnTo>
                    <a:pt x="904401" y="0"/>
                  </a:lnTo>
                  <a:cubicBezTo>
                    <a:pt x="928283" y="0"/>
                    <a:pt x="951187" y="9487"/>
                    <a:pt x="968074" y="26374"/>
                  </a:cubicBezTo>
                  <a:cubicBezTo>
                    <a:pt x="984961" y="43261"/>
                    <a:pt x="994449" y="66165"/>
                    <a:pt x="994449" y="90047"/>
                  </a:cubicBezTo>
                  <a:lnTo>
                    <a:pt x="994449" y="750279"/>
                  </a:lnTo>
                  <a:cubicBezTo>
                    <a:pt x="994449" y="774161"/>
                    <a:pt x="984961" y="797064"/>
                    <a:pt x="968074" y="813952"/>
                  </a:cubicBezTo>
                  <a:cubicBezTo>
                    <a:pt x="951187" y="830839"/>
                    <a:pt x="928283" y="840326"/>
                    <a:pt x="904401" y="840326"/>
                  </a:cubicBezTo>
                  <a:lnTo>
                    <a:pt x="90047" y="840326"/>
                  </a:lnTo>
                  <a:cubicBezTo>
                    <a:pt x="66165" y="840326"/>
                    <a:pt x="43261" y="830839"/>
                    <a:pt x="26374" y="813952"/>
                  </a:cubicBezTo>
                  <a:cubicBezTo>
                    <a:pt x="9487" y="797064"/>
                    <a:pt x="0" y="774161"/>
                    <a:pt x="0" y="750279"/>
                  </a:cubicBezTo>
                  <a:lnTo>
                    <a:pt x="0" y="90047"/>
                  </a:lnTo>
                  <a:cubicBezTo>
                    <a:pt x="0" y="66165"/>
                    <a:pt x="9487" y="43261"/>
                    <a:pt x="26374" y="26374"/>
                  </a:cubicBezTo>
                  <a:cubicBezTo>
                    <a:pt x="43261" y="9487"/>
                    <a:pt x="66165" y="0"/>
                    <a:pt x="90047" y="0"/>
                  </a:cubicBezTo>
                  <a:close/>
                </a:path>
              </a:pathLst>
            </a:custGeom>
            <a:solidFill>
              <a:srgbClr val="63B8A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994448" cy="8879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20275" y="380509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11945" y="514441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98764" y="377952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90434" y="511885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1015600" y="4108685"/>
            <a:ext cx="5718448" cy="935092"/>
          </a:xfrm>
          <a:custGeom>
            <a:avLst/>
            <a:gdLst/>
            <a:ahLst/>
            <a:cxnLst/>
            <a:rect l="l" t="t" r="r" b="b"/>
            <a:pathLst>
              <a:path w="5718448" h="935092">
                <a:moveTo>
                  <a:pt x="0" y="0"/>
                </a:moveTo>
                <a:lnTo>
                  <a:pt x="5718448" y="0"/>
                </a:lnTo>
                <a:lnTo>
                  <a:pt x="5718448" y="935092"/>
                </a:lnTo>
                <a:lnTo>
                  <a:pt x="0" y="9350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1028700" y="774738"/>
            <a:ext cx="15953694" cy="114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800"/>
              </a:lnSpc>
            </a:pPr>
            <a:r>
              <a:rPr lang="en-US" sz="8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How judgments are represented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2442" y="2714625"/>
            <a:ext cx="6045199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Plain text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033453" y="2714625"/>
            <a:ext cx="6045199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Math equations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921107" y="4377794"/>
            <a:ext cx="216089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 - multiplier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41569" y="3540175"/>
            <a:ext cx="5636072" cy="759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034"/>
              </a:lnSpc>
              <a:spcBef>
                <a:spcPct val="0"/>
              </a:spcBef>
            </a:pPr>
            <a:r>
              <a:rPr lang="en-US" sz="2167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Humans provide pairwise, multiplicative judgments (e.g.,</a:t>
            </a:r>
            <a:r>
              <a:rPr lang="en-US" sz="2167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“B is 10× A”)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51094" y="4724379"/>
            <a:ext cx="5636072" cy="759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034"/>
              </a:lnSpc>
              <a:spcBef>
                <a:spcPct val="0"/>
              </a:spcBef>
            </a:pPr>
            <a:r>
              <a:rPr lang="en-US" sz="2167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Encode judgments in log-space so </a:t>
            </a:r>
            <a:r>
              <a:rPr lang="en-US" sz="2167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ratios become additive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859846" y="8892540"/>
            <a:ext cx="10568308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</a:pPr>
            <a:r>
              <a:rPr lang="en-US" sz="2100">
                <a:solidFill>
                  <a:srgbClr val="000000">
                    <a:alpha val="6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indexes: i models, j repositories, k human-labeled comparisons (a, b)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424385"/>
            <a:ext cx="7747777" cy="1039544"/>
            <a:chOff x="0" y="0"/>
            <a:chExt cx="2635735" cy="3536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35735" cy="353645"/>
            </a:xfrm>
            <a:custGeom>
              <a:avLst/>
              <a:gdLst/>
              <a:ahLst/>
              <a:cxnLst/>
              <a:rect l="l" t="t" r="r" b="b"/>
              <a:pathLst>
                <a:path w="2635735" h="353645">
                  <a:moveTo>
                    <a:pt x="0" y="0"/>
                  </a:moveTo>
                  <a:lnTo>
                    <a:pt x="2635735" y="0"/>
                  </a:lnTo>
                  <a:lnTo>
                    <a:pt x="2635735" y="353645"/>
                  </a:lnTo>
                  <a:lnTo>
                    <a:pt x="0" y="3536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635735" cy="401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4772191"/>
            <a:ext cx="7747777" cy="1039544"/>
            <a:chOff x="0" y="0"/>
            <a:chExt cx="2635735" cy="35364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35735" cy="353645"/>
            </a:xfrm>
            <a:custGeom>
              <a:avLst/>
              <a:gdLst/>
              <a:ahLst/>
              <a:cxnLst/>
              <a:rect l="l" t="t" r="r" b="b"/>
              <a:pathLst>
                <a:path w="2635735" h="353645">
                  <a:moveTo>
                    <a:pt x="0" y="0"/>
                  </a:moveTo>
                  <a:lnTo>
                    <a:pt x="2635735" y="0"/>
                  </a:lnTo>
                  <a:lnTo>
                    <a:pt x="2635735" y="353645"/>
                  </a:lnTo>
                  <a:lnTo>
                    <a:pt x="0" y="3536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635735" cy="401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12007" y="3424385"/>
            <a:ext cx="7747777" cy="1039544"/>
            <a:chOff x="0" y="0"/>
            <a:chExt cx="2635735" cy="35364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35735" cy="353645"/>
            </a:xfrm>
            <a:custGeom>
              <a:avLst/>
              <a:gdLst/>
              <a:ahLst/>
              <a:cxnLst/>
              <a:rect l="l" t="t" r="r" b="b"/>
              <a:pathLst>
                <a:path w="2635735" h="353645">
                  <a:moveTo>
                    <a:pt x="0" y="0"/>
                  </a:moveTo>
                  <a:lnTo>
                    <a:pt x="2635735" y="0"/>
                  </a:lnTo>
                  <a:lnTo>
                    <a:pt x="2635735" y="353645"/>
                  </a:lnTo>
                  <a:lnTo>
                    <a:pt x="0" y="353645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635735" cy="401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11" name="Auto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57000" y="3424385"/>
            <a:ext cx="74483" cy="2381250"/>
          </a:xfrm>
          <a:prstGeom prst="rect">
            <a:avLst/>
          </a:prstGeom>
          <a:solidFill>
            <a:srgbClr val="264C3D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7532645" y="3341587"/>
            <a:ext cx="2923194" cy="1205140"/>
            <a:chOff x="0" y="0"/>
            <a:chExt cx="994448" cy="40998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94449" cy="409980"/>
            </a:xfrm>
            <a:custGeom>
              <a:avLst/>
              <a:gdLst/>
              <a:ahLst/>
              <a:cxnLst/>
              <a:rect l="l" t="t" r="r" b="b"/>
              <a:pathLst>
                <a:path w="994449" h="409980">
                  <a:moveTo>
                    <a:pt x="90047" y="0"/>
                  </a:moveTo>
                  <a:lnTo>
                    <a:pt x="904401" y="0"/>
                  </a:lnTo>
                  <a:cubicBezTo>
                    <a:pt x="928283" y="0"/>
                    <a:pt x="951187" y="9487"/>
                    <a:pt x="968074" y="26374"/>
                  </a:cubicBezTo>
                  <a:cubicBezTo>
                    <a:pt x="984961" y="43261"/>
                    <a:pt x="994449" y="66165"/>
                    <a:pt x="994449" y="90047"/>
                  </a:cubicBezTo>
                  <a:lnTo>
                    <a:pt x="994449" y="319932"/>
                  </a:lnTo>
                  <a:cubicBezTo>
                    <a:pt x="994449" y="343814"/>
                    <a:pt x="984961" y="366718"/>
                    <a:pt x="968074" y="383605"/>
                  </a:cubicBezTo>
                  <a:cubicBezTo>
                    <a:pt x="951187" y="400492"/>
                    <a:pt x="928283" y="409980"/>
                    <a:pt x="904401" y="409980"/>
                  </a:cubicBezTo>
                  <a:lnTo>
                    <a:pt x="90047" y="409980"/>
                  </a:lnTo>
                  <a:cubicBezTo>
                    <a:pt x="66165" y="409980"/>
                    <a:pt x="43261" y="400492"/>
                    <a:pt x="26374" y="383605"/>
                  </a:cubicBezTo>
                  <a:cubicBezTo>
                    <a:pt x="9487" y="366718"/>
                    <a:pt x="0" y="343814"/>
                    <a:pt x="0" y="319932"/>
                  </a:cubicBezTo>
                  <a:lnTo>
                    <a:pt x="0" y="90047"/>
                  </a:lnTo>
                  <a:cubicBezTo>
                    <a:pt x="0" y="66165"/>
                    <a:pt x="9487" y="43261"/>
                    <a:pt x="26374" y="26374"/>
                  </a:cubicBezTo>
                  <a:cubicBezTo>
                    <a:pt x="43261" y="9487"/>
                    <a:pt x="66165" y="0"/>
                    <a:pt x="90047" y="0"/>
                  </a:cubicBezTo>
                  <a:close/>
                </a:path>
              </a:pathLst>
            </a:custGeom>
            <a:solidFill>
              <a:srgbClr val="63B8A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994448" cy="4576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212007" y="4772191"/>
            <a:ext cx="7747777" cy="1039544"/>
            <a:chOff x="0" y="0"/>
            <a:chExt cx="2635735" cy="35364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635735" cy="353645"/>
            </a:xfrm>
            <a:custGeom>
              <a:avLst/>
              <a:gdLst/>
              <a:ahLst/>
              <a:cxnLst/>
              <a:rect l="l" t="t" r="r" b="b"/>
              <a:pathLst>
                <a:path w="2635735" h="353645">
                  <a:moveTo>
                    <a:pt x="0" y="0"/>
                  </a:moveTo>
                  <a:lnTo>
                    <a:pt x="2635735" y="0"/>
                  </a:lnTo>
                  <a:lnTo>
                    <a:pt x="2635735" y="353645"/>
                  </a:lnTo>
                  <a:lnTo>
                    <a:pt x="0" y="353645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2635735" cy="401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532645" y="4689393"/>
            <a:ext cx="2923194" cy="1205140"/>
            <a:chOff x="0" y="0"/>
            <a:chExt cx="994448" cy="40998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94449" cy="409980"/>
            </a:xfrm>
            <a:custGeom>
              <a:avLst/>
              <a:gdLst/>
              <a:ahLst/>
              <a:cxnLst/>
              <a:rect l="l" t="t" r="r" b="b"/>
              <a:pathLst>
                <a:path w="994449" h="409980">
                  <a:moveTo>
                    <a:pt x="90047" y="0"/>
                  </a:moveTo>
                  <a:lnTo>
                    <a:pt x="904401" y="0"/>
                  </a:lnTo>
                  <a:cubicBezTo>
                    <a:pt x="928283" y="0"/>
                    <a:pt x="951187" y="9487"/>
                    <a:pt x="968074" y="26374"/>
                  </a:cubicBezTo>
                  <a:cubicBezTo>
                    <a:pt x="984961" y="43261"/>
                    <a:pt x="994449" y="66165"/>
                    <a:pt x="994449" y="90047"/>
                  </a:cubicBezTo>
                  <a:lnTo>
                    <a:pt x="994449" y="319932"/>
                  </a:lnTo>
                  <a:cubicBezTo>
                    <a:pt x="994449" y="343814"/>
                    <a:pt x="984961" y="366718"/>
                    <a:pt x="968074" y="383605"/>
                  </a:cubicBezTo>
                  <a:cubicBezTo>
                    <a:pt x="951187" y="400492"/>
                    <a:pt x="928283" y="409980"/>
                    <a:pt x="904401" y="409980"/>
                  </a:cubicBezTo>
                  <a:lnTo>
                    <a:pt x="90047" y="409980"/>
                  </a:lnTo>
                  <a:cubicBezTo>
                    <a:pt x="66165" y="409980"/>
                    <a:pt x="43261" y="400492"/>
                    <a:pt x="26374" y="383605"/>
                  </a:cubicBezTo>
                  <a:cubicBezTo>
                    <a:pt x="9487" y="366718"/>
                    <a:pt x="0" y="343814"/>
                    <a:pt x="0" y="319932"/>
                  </a:cubicBezTo>
                  <a:lnTo>
                    <a:pt x="0" y="90047"/>
                  </a:lnTo>
                  <a:cubicBezTo>
                    <a:pt x="0" y="66165"/>
                    <a:pt x="9487" y="43261"/>
                    <a:pt x="26374" y="26374"/>
                  </a:cubicBezTo>
                  <a:cubicBezTo>
                    <a:pt x="43261" y="9487"/>
                    <a:pt x="66165" y="0"/>
                    <a:pt x="90047" y="0"/>
                  </a:cubicBezTo>
                  <a:close/>
                </a:path>
              </a:pathLst>
            </a:custGeom>
            <a:solidFill>
              <a:srgbClr val="4686C8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994448" cy="4576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Freeform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12964" y="380552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04634" y="514484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91452" y="377995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83122" y="511928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1009484" y="3826503"/>
            <a:ext cx="2872755" cy="309807"/>
          </a:xfrm>
          <a:custGeom>
            <a:avLst/>
            <a:gdLst/>
            <a:ahLst/>
            <a:cxnLst/>
            <a:rect l="l" t="t" r="r" b="b"/>
            <a:pathLst>
              <a:path w="2872755" h="309807">
                <a:moveTo>
                  <a:pt x="0" y="0"/>
                </a:moveTo>
                <a:lnTo>
                  <a:pt x="2872755" y="0"/>
                </a:lnTo>
                <a:lnTo>
                  <a:pt x="2872755" y="309807"/>
                </a:lnTo>
                <a:lnTo>
                  <a:pt x="0" y="3098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10999959" y="5012426"/>
            <a:ext cx="2059753" cy="559076"/>
          </a:xfrm>
          <a:custGeom>
            <a:avLst/>
            <a:gdLst/>
            <a:ahLst/>
            <a:cxnLst/>
            <a:rect l="l" t="t" r="r" b="b"/>
            <a:pathLst>
              <a:path w="2059753" h="559076">
                <a:moveTo>
                  <a:pt x="0" y="0"/>
                </a:moveTo>
                <a:lnTo>
                  <a:pt x="2059754" y="0"/>
                </a:lnTo>
                <a:lnTo>
                  <a:pt x="2059754" y="559075"/>
                </a:lnTo>
                <a:lnTo>
                  <a:pt x="0" y="55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1028700" y="774738"/>
            <a:ext cx="15953694" cy="114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800"/>
              </a:lnSpc>
            </a:pPr>
            <a:r>
              <a:rPr lang="en-US" sz="8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How LLM scores are represented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25131" y="2715055"/>
            <a:ext cx="6045199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Plain text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026142" y="2715055"/>
            <a:ext cx="6045199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Math equations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15327" y="3745720"/>
            <a:ext cx="216089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 - scores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915327" y="5093526"/>
            <a:ext cx="216089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 - logit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34258" y="3540605"/>
            <a:ext cx="5636072" cy="759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034"/>
              </a:lnSpc>
              <a:spcBef>
                <a:spcPct val="0"/>
              </a:spcBef>
            </a:pPr>
            <a:r>
              <a:rPr lang="en-US" sz="2167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Each LLM outputs p</a:t>
            </a:r>
            <a:r>
              <a:rPr lang="en-US" sz="2167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ositive scores for every repository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34258" y="5080140"/>
            <a:ext cx="5636072" cy="376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034"/>
              </a:lnSpc>
              <a:spcBef>
                <a:spcPct val="0"/>
              </a:spcBef>
            </a:pPr>
            <a:r>
              <a:rPr lang="en-US" sz="2167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Convert scores into logi</a:t>
            </a:r>
            <a:r>
              <a:rPr lang="en-US" sz="2167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ts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859846" y="8892540"/>
            <a:ext cx="10568308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</a:pPr>
            <a:r>
              <a:rPr lang="en-US" sz="2100">
                <a:solidFill>
                  <a:srgbClr val="000000">
                    <a:alpha val="4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indexes: i models, j repositories, k human-labeled comparisons (a, 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424385"/>
            <a:ext cx="7747777" cy="1039544"/>
            <a:chOff x="0" y="0"/>
            <a:chExt cx="2635735" cy="3536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35735" cy="353645"/>
            </a:xfrm>
            <a:custGeom>
              <a:avLst/>
              <a:gdLst/>
              <a:ahLst/>
              <a:cxnLst/>
              <a:rect l="l" t="t" r="r" b="b"/>
              <a:pathLst>
                <a:path w="2635735" h="353645">
                  <a:moveTo>
                    <a:pt x="0" y="0"/>
                  </a:moveTo>
                  <a:lnTo>
                    <a:pt x="2635735" y="0"/>
                  </a:lnTo>
                  <a:lnTo>
                    <a:pt x="2635735" y="353645"/>
                  </a:lnTo>
                  <a:lnTo>
                    <a:pt x="0" y="3536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635735" cy="401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6120206"/>
            <a:ext cx="7747777" cy="1039544"/>
            <a:chOff x="0" y="0"/>
            <a:chExt cx="2635735" cy="35364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35735" cy="353645"/>
            </a:xfrm>
            <a:custGeom>
              <a:avLst/>
              <a:gdLst/>
              <a:ahLst/>
              <a:cxnLst/>
              <a:rect l="l" t="t" r="r" b="b"/>
              <a:pathLst>
                <a:path w="2635735" h="353645">
                  <a:moveTo>
                    <a:pt x="0" y="0"/>
                  </a:moveTo>
                  <a:lnTo>
                    <a:pt x="2635735" y="0"/>
                  </a:lnTo>
                  <a:lnTo>
                    <a:pt x="2635735" y="353645"/>
                  </a:lnTo>
                  <a:lnTo>
                    <a:pt x="0" y="3536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635735" cy="401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4772191"/>
            <a:ext cx="7747777" cy="1039544"/>
            <a:chOff x="0" y="0"/>
            <a:chExt cx="2635735" cy="35364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35735" cy="353645"/>
            </a:xfrm>
            <a:custGeom>
              <a:avLst/>
              <a:gdLst/>
              <a:ahLst/>
              <a:cxnLst/>
              <a:rect l="l" t="t" r="r" b="b"/>
              <a:pathLst>
                <a:path w="2635735" h="353645">
                  <a:moveTo>
                    <a:pt x="0" y="0"/>
                  </a:moveTo>
                  <a:lnTo>
                    <a:pt x="2635735" y="0"/>
                  </a:lnTo>
                  <a:lnTo>
                    <a:pt x="2635735" y="353645"/>
                  </a:lnTo>
                  <a:lnTo>
                    <a:pt x="0" y="3536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635735" cy="401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12007" y="6120206"/>
            <a:ext cx="7747777" cy="1039544"/>
            <a:chOff x="0" y="0"/>
            <a:chExt cx="2635735" cy="35364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635735" cy="353645"/>
            </a:xfrm>
            <a:custGeom>
              <a:avLst/>
              <a:gdLst/>
              <a:ahLst/>
              <a:cxnLst/>
              <a:rect l="l" t="t" r="r" b="b"/>
              <a:pathLst>
                <a:path w="2635735" h="353645">
                  <a:moveTo>
                    <a:pt x="0" y="0"/>
                  </a:moveTo>
                  <a:lnTo>
                    <a:pt x="2635735" y="0"/>
                  </a:lnTo>
                  <a:lnTo>
                    <a:pt x="2635735" y="353645"/>
                  </a:lnTo>
                  <a:lnTo>
                    <a:pt x="0" y="353645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2635735" cy="401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212007" y="3424385"/>
            <a:ext cx="7747777" cy="1039544"/>
            <a:chOff x="0" y="0"/>
            <a:chExt cx="2635735" cy="35364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635735" cy="353645"/>
            </a:xfrm>
            <a:custGeom>
              <a:avLst/>
              <a:gdLst/>
              <a:ahLst/>
              <a:cxnLst/>
              <a:rect l="l" t="t" r="r" b="b"/>
              <a:pathLst>
                <a:path w="2635735" h="353645">
                  <a:moveTo>
                    <a:pt x="0" y="0"/>
                  </a:moveTo>
                  <a:lnTo>
                    <a:pt x="2635735" y="0"/>
                  </a:lnTo>
                  <a:lnTo>
                    <a:pt x="2635735" y="353645"/>
                  </a:lnTo>
                  <a:lnTo>
                    <a:pt x="0" y="353645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2635735" cy="401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17" name="Auto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57000" y="4136310"/>
            <a:ext cx="74483" cy="3524250"/>
          </a:xfrm>
          <a:prstGeom prst="rect">
            <a:avLst/>
          </a:prstGeom>
          <a:solidFill>
            <a:srgbClr val="264C3D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7532645" y="3341587"/>
            <a:ext cx="2923194" cy="1205140"/>
            <a:chOff x="0" y="0"/>
            <a:chExt cx="994448" cy="40998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94449" cy="409980"/>
            </a:xfrm>
            <a:custGeom>
              <a:avLst/>
              <a:gdLst/>
              <a:ahLst/>
              <a:cxnLst/>
              <a:rect l="l" t="t" r="r" b="b"/>
              <a:pathLst>
                <a:path w="994449" h="409980">
                  <a:moveTo>
                    <a:pt x="90047" y="0"/>
                  </a:moveTo>
                  <a:lnTo>
                    <a:pt x="904401" y="0"/>
                  </a:lnTo>
                  <a:cubicBezTo>
                    <a:pt x="928283" y="0"/>
                    <a:pt x="951187" y="9487"/>
                    <a:pt x="968074" y="26374"/>
                  </a:cubicBezTo>
                  <a:cubicBezTo>
                    <a:pt x="984961" y="43261"/>
                    <a:pt x="994449" y="66165"/>
                    <a:pt x="994449" y="90047"/>
                  </a:cubicBezTo>
                  <a:lnTo>
                    <a:pt x="994449" y="319932"/>
                  </a:lnTo>
                  <a:cubicBezTo>
                    <a:pt x="994449" y="343814"/>
                    <a:pt x="984961" y="366718"/>
                    <a:pt x="968074" y="383605"/>
                  </a:cubicBezTo>
                  <a:cubicBezTo>
                    <a:pt x="951187" y="400492"/>
                    <a:pt x="928283" y="409980"/>
                    <a:pt x="904401" y="409980"/>
                  </a:cubicBezTo>
                  <a:lnTo>
                    <a:pt x="90047" y="409980"/>
                  </a:lnTo>
                  <a:cubicBezTo>
                    <a:pt x="66165" y="409980"/>
                    <a:pt x="43261" y="400492"/>
                    <a:pt x="26374" y="383605"/>
                  </a:cubicBezTo>
                  <a:cubicBezTo>
                    <a:pt x="9487" y="366718"/>
                    <a:pt x="0" y="343814"/>
                    <a:pt x="0" y="319932"/>
                  </a:cubicBezTo>
                  <a:lnTo>
                    <a:pt x="0" y="90047"/>
                  </a:lnTo>
                  <a:cubicBezTo>
                    <a:pt x="0" y="66165"/>
                    <a:pt x="9487" y="43261"/>
                    <a:pt x="26374" y="26374"/>
                  </a:cubicBezTo>
                  <a:cubicBezTo>
                    <a:pt x="43261" y="9487"/>
                    <a:pt x="66165" y="0"/>
                    <a:pt x="90047" y="0"/>
                  </a:cubicBezTo>
                  <a:close/>
                </a:path>
              </a:pathLst>
            </a:custGeom>
            <a:solidFill>
              <a:srgbClr val="63B8A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994448" cy="4576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532645" y="6037409"/>
            <a:ext cx="2923194" cy="1205140"/>
            <a:chOff x="0" y="0"/>
            <a:chExt cx="994448" cy="40998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94449" cy="409980"/>
            </a:xfrm>
            <a:custGeom>
              <a:avLst/>
              <a:gdLst/>
              <a:ahLst/>
              <a:cxnLst/>
              <a:rect l="l" t="t" r="r" b="b"/>
              <a:pathLst>
                <a:path w="994449" h="409980">
                  <a:moveTo>
                    <a:pt x="90047" y="0"/>
                  </a:moveTo>
                  <a:lnTo>
                    <a:pt x="904401" y="0"/>
                  </a:lnTo>
                  <a:cubicBezTo>
                    <a:pt x="928283" y="0"/>
                    <a:pt x="951187" y="9487"/>
                    <a:pt x="968074" y="26374"/>
                  </a:cubicBezTo>
                  <a:cubicBezTo>
                    <a:pt x="984961" y="43261"/>
                    <a:pt x="994449" y="66165"/>
                    <a:pt x="994449" y="90047"/>
                  </a:cubicBezTo>
                  <a:lnTo>
                    <a:pt x="994449" y="319932"/>
                  </a:lnTo>
                  <a:cubicBezTo>
                    <a:pt x="994449" y="343814"/>
                    <a:pt x="984961" y="366718"/>
                    <a:pt x="968074" y="383605"/>
                  </a:cubicBezTo>
                  <a:cubicBezTo>
                    <a:pt x="951187" y="400492"/>
                    <a:pt x="928283" y="409980"/>
                    <a:pt x="904401" y="409980"/>
                  </a:cubicBezTo>
                  <a:lnTo>
                    <a:pt x="90047" y="409980"/>
                  </a:lnTo>
                  <a:cubicBezTo>
                    <a:pt x="66165" y="409980"/>
                    <a:pt x="43261" y="400492"/>
                    <a:pt x="26374" y="383605"/>
                  </a:cubicBezTo>
                  <a:cubicBezTo>
                    <a:pt x="9487" y="366718"/>
                    <a:pt x="0" y="343814"/>
                    <a:pt x="0" y="319932"/>
                  </a:cubicBezTo>
                  <a:lnTo>
                    <a:pt x="0" y="90047"/>
                  </a:lnTo>
                  <a:cubicBezTo>
                    <a:pt x="0" y="66165"/>
                    <a:pt x="9487" y="43261"/>
                    <a:pt x="26374" y="26374"/>
                  </a:cubicBezTo>
                  <a:cubicBezTo>
                    <a:pt x="43261" y="9487"/>
                    <a:pt x="66165" y="0"/>
                    <a:pt x="90047" y="0"/>
                  </a:cubicBezTo>
                  <a:close/>
                </a:path>
              </a:pathLst>
            </a:custGeom>
            <a:solidFill>
              <a:srgbClr val="63B8A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994448" cy="4576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212007" y="4772191"/>
            <a:ext cx="7747777" cy="1039544"/>
            <a:chOff x="0" y="0"/>
            <a:chExt cx="2635735" cy="35364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635735" cy="353645"/>
            </a:xfrm>
            <a:custGeom>
              <a:avLst/>
              <a:gdLst/>
              <a:ahLst/>
              <a:cxnLst/>
              <a:rect l="l" t="t" r="r" b="b"/>
              <a:pathLst>
                <a:path w="2635735" h="353645">
                  <a:moveTo>
                    <a:pt x="0" y="0"/>
                  </a:moveTo>
                  <a:lnTo>
                    <a:pt x="2635735" y="0"/>
                  </a:lnTo>
                  <a:lnTo>
                    <a:pt x="2635735" y="353645"/>
                  </a:lnTo>
                  <a:lnTo>
                    <a:pt x="0" y="353645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2635735" cy="401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532645" y="4689393"/>
            <a:ext cx="2923194" cy="1205140"/>
            <a:chOff x="0" y="0"/>
            <a:chExt cx="994448" cy="40998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94449" cy="409980"/>
            </a:xfrm>
            <a:custGeom>
              <a:avLst/>
              <a:gdLst/>
              <a:ahLst/>
              <a:cxnLst/>
              <a:rect l="l" t="t" r="r" b="b"/>
              <a:pathLst>
                <a:path w="994449" h="409980">
                  <a:moveTo>
                    <a:pt x="90047" y="0"/>
                  </a:moveTo>
                  <a:lnTo>
                    <a:pt x="904401" y="0"/>
                  </a:lnTo>
                  <a:cubicBezTo>
                    <a:pt x="928283" y="0"/>
                    <a:pt x="951187" y="9487"/>
                    <a:pt x="968074" y="26374"/>
                  </a:cubicBezTo>
                  <a:cubicBezTo>
                    <a:pt x="984961" y="43261"/>
                    <a:pt x="994449" y="66165"/>
                    <a:pt x="994449" y="90047"/>
                  </a:cubicBezTo>
                  <a:lnTo>
                    <a:pt x="994449" y="319932"/>
                  </a:lnTo>
                  <a:cubicBezTo>
                    <a:pt x="994449" y="343814"/>
                    <a:pt x="984961" y="366718"/>
                    <a:pt x="968074" y="383605"/>
                  </a:cubicBezTo>
                  <a:cubicBezTo>
                    <a:pt x="951187" y="400492"/>
                    <a:pt x="928283" y="409980"/>
                    <a:pt x="904401" y="409980"/>
                  </a:cubicBezTo>
                  <a:lnTo>
                    <a:pt x="90047" y="409980"/>
                  </a:lnTo>
                  <a:cubicBezTo>
                    <a:pt x="66165" y="409980"/>
                    <a:pt x="43261" y="400492"/>
                    <a:pt x="26374" y="383605"/>
                  </a:cubicBezTo>
                  <a:cubicBezTo>
                    <a:pt x="9487" y="366718"/>
                    <a:pt x="0" y="343814"/>
                    <a:pt x="0" y="319932"/>
                  </a:cubicBezTo>
                  <a:lnTo>
                    <a:pt x="0" y="90047"/>
                  </a:lnTo>
                  <a:cubicBezTo>
                    <a:pt x="0" y="66165"/>
                    <a:pt x="9487" y="43261"/>
                    <a:pt x="26374" y="26374"/>
                  </a:cubicBezTo>
                  <a:cubicBezTo>
                    <a:pt x="43261" y="9487"/>
                    <a:pt x="66165" y="0"/>
                    <a:pt x="90047" y="0"/>
                  </a:cubicBezTo>
                  <a:close/>
                </a:path>
              </a:pathLst>
            </a:custGeom>
            <a:solidFill>
              <a:srgbClr val="4686C8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994448" cy="4576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0" name="Freeform 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12964" y="380552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04634" y="514484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74881" y="662494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91452" y="377995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3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83122" y="511928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53370" y="659938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6" name="Group 36"/>
          <p:cNvGrpSpPr/>
          <p:nvPr/>
        </p:nvGrpSpPr>
        <p:grpSpPr>
          <a:xfrm>
            <a:off x="1028700" y="7468221"/>
            <a:ext cx="7747777" cy="1039544"/>
            <a:chOff x="0" y="0"/>
            <a:chExt cx="2635735" cy="35364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635735" cy="353645"/>
            </a:xfrm>
            <a:custGeom>
              <a:avLst/>
              <a:gdLst/>
              <a:ahLst/>
              <a:cxnLst/>
              <a:rect l="l" t="t" r="r" b="b"/>
              <a:pathLst>
                <a:path w="2635735" h="353645">
                  <a:moveTo>
                    <a:pt x="0" y="0"/>
                  </a:moveTo>
                  <a:lnTo>
                    <a:pt x="2635735" y="0"/>
                  </a:lnTo>
                  <a:lnTo>
                    <a:pt x="2635735" y="353645"/>
                  </a:lnTo>
                  <a:lnTo>
                    <a:pt x="0" y="3536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2635735" cy="401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212007" y="7468221"/>
            <a:ext cx="7747777" cy="1039544"/>
            <a:chOff x="0" y="0"/>
            <a:chExt cx="2635735" cy="353645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635735" cy="353645"/>
            </a:xfrm>
            <a:custGeom>
              <a:avLst/>
              <a:gdLst/>
              <a:ahLst/>
              <a:cxnLst/>
              <a:rect l="l" t="t" r="r" b="b"/>
              <a:pathLst>
                <a:path w="2635735" h="353645">
                  <a:moveTo>
                    <a:pt x="0" y="0"/>
                  </a:moveTo>
                  <a:lnTo>
                    <a:pt x="2635735" y="0"/>
                  </a:lnTo>
                  <a:lnTo>
                    <a:pt x="2635735" y="353645"/>
                  </a:lnTo>
                  <a:lnTo>
                    <a:pt x="0" y="353645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47625"/>
              <a:ext cx="2635735" cy="401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532645" y="7245430"/>
            <a:ext cx="2923197" cy="1345134"/>
            <a:chOff x="0" y="-47625"/>
            <a:chExt cx="994449" cy="457605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994449" cy="409980"/>
            </a:xfrm>
            <a:custGeom>
              <a:avLst/>
              <a:gdLst/>
              <a:ahLst/>
              <a:cxnLst/>
              <a:rect l="l" t="t" r="r" b="b"/>
              <a:pathLst>
                <a:path w="994449" h="409980">
                  <a:moveTo>
                    <a:pt x="90047" y="0"/>
                  </a:moveTo>
                  <a:lnTo>
                    <a:pt x="904401" y="0"/>
                  </a:lnTo>
                  <a:cubicBezTo>
                    <a:pt x="928283" y="0"/>
                    <a:pt x="951187" y="9487"/>
                    <a:pt x="968074" y="26374"/>
                  </a:cubicBezTo>
                  <a:cubicBezTo>
                    <a:pt x="984961" y="43261"/>
                    <a:pt x="994449" y="66165"/>
                    <a:pt x="994449" y="90047"/>
                  </a:cubicBezTo>
                  <a:lnTo>
                    <a:pt x="994449" y="319932"/>
                  </a:lnTo>
                  <a:cubicBezTo>
                    <a:pt x="994449" y="343814"/>
                    <a:pt x="984961" y="366718"/>
                    <a:pt x="968074" y="383605"/>
                  </a:cubicBezTo>
                  <a:cubicBezTo>
                    <a:pt x="951187" y="400492"/>
                    <a:pt x="928283" y="409980"/>
                    <a:pt x="904401" y="409980"/>
                  </a:cubicBezTo>
                  <a:lnTo>
                    <a:pt x="90047" y="409980"/>
                  </a:lnTo>
                  <a:cubicBezTo>
                    <a:pt x="66165" y="409980"/>
                    <a:pt x="43261" y="400492"/>
                    <a:pt x="26374" y="383605"/>
                  </a:cubicBezTo>
                  <a:cubicBezTo>
                    <a:pt x="9487" y="366718"/>
                    <a:pt x="0" y="343814"/>
                    <a:pt x="0" y="319932"/>
                  </a:cubicBezTo>
                  <a:lnTo>
                    <a:pt x="0" y="90047"/>
                  </a:lnTo>
                  <a:cubicBezTo>
                    <a:pt x="0" y="66165"/>
                    <a:pt x="9487" y="43261"/>
                    <a:pt x="26374" y="26374"/>
                  </a:cubicBezTo>
                  <a:cubicBezTo>
                    <a:pt x="43261" y="9487"/>
                    <a:pt x="66165" y="0"/>
                    <a:pt x="90047" y="0"/>
                  </a:cubicBez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47625"/>
              <a:ext cx="994448" cy="4576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5" name="Freeform 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04634" y="784087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6" name="Freeform 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22771" y="784087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9" name="Freeform 49"/>
          <p:cNvSpPr/>
          <p:nvPr/>
        </p:nvSpPr>
        <p:spPr>
          <a:xfrm>
            <a:off x="11017814" y="3620004"/>
            <a:ext cx="2354007" cy="693813"/>
          </a:xfrm>
          <a:custGeom>
            <a:avLst/>
            <a:gdLst/>
            <a:ahLst/>
            <a:cxnLst/>
            <a:rect l="l" t="t" r="r" b="b"/>
            <a:pathLst>
              <a:path w="2354007" h="693813">
                <a:moveTo>
                  <a:pt x="0" y="0"/>
                </a:moveTo>
                <a:lnTo>
                  <a:pt x="2354007" y="0"/>
                </a:lnTo>
                <a:lnTo>
                  <a:pt x="2354007" y="693813"/>
                </a:lnTo>
                <a:lnTo>
                  <a:pt x="0" y="6938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0" name="Freeform 50"/>
          <p:cNvSpPr/>
          <p:nvPr/>
        </p:nvSpPr>
        <p:spPr>
          <a:xfrm>
            <a:off x="10941631" y="5107280"/>
            <a:ext cx="4029907" cy="360887"/>
          </a:xfrm>
          <a:custGeom>
            <a:avLst/>
            <a:gdLst/>
            <a:ahLst/>
            <a:cxnLst/>
            <a:rect l="l" t="t" r="r" b="b"/>
            <a:pathLst>
              <a:path w="4029907" h="360887">
                <a:moveTo>
                  <a:pt x="0" y="0"/>
                </a:moveTo>
                <a:lnTo>
                  <a:pt x="4029907" y="0"/>
                </a:lnTo>
                <a:lnTo>
                  <a:pt x="4029907" y="360887"/>
                </a:lnTo>
                <a:lnTo>
                  <a:pt x="0" y="36088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1" name="Freeform 51"/>
          <p:cNvSpPr/>
          <p:nvPr/>
        </p:nvSpPr>
        <p:spPr>
          <a:xfrm>
            <a:off x="10941631" y="6425311"/>
            <a:ext cx="4379642" cy="633895"/>
          </a:xfrm>
          <a:custGeom>
            <a:avLst/>
            <a:gdLst/>
            <a:ahLst/>
            <a:cxnLst/>
            <a:rect l="l" t="t" r="r" b="b"/>
            <a:pathLst>
              <a:path w="4379642" h="633895">
                <a:moveTo>
                  <a:pt x="0" y="0"/>
                </a:moveTo>
                <a:lnTo>
                  <a:pt x="4379642" y="0"/>
                </a:lnTo>
                <a:lnTo>
                  <a:pt x="4379642" y="633895"/>
                </a:lnTo>
                <a:lnTo>
                  <a:pt x="0" y="63389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2" name="Freeform 52"/>
          <p:cNvSpPr/>
          <p:nvPr/>
        </p:nvSpPr>
        <p:spPr>
          <a:xfrm>
            <a:off x="10941631" y="7545175"/>
            <a:ext cx="3653256" cy="885638"/>
          </a:xfrm>
          <a:custGeom>
            <a:avLst/>
            <a:gdLst/>
            <a:ahLst/>
            <a:cxnLst/>
            <a:rect l="l" t="t" r="r" b="b"/>
            <a:pathLst>
              <a:path w="3653256" h="885638">
                <a:moveTo>
                  <a:pt x="0" y="0"/>
                </a:moveTo>
                <a:lnTo>
                  <a:pt x="3653256" y="0"/>
                </a:lnTo>
                <a:lnTo>
                  <a:pt x="3653256" y="885638"/>
                </a:lnTo>
                <a:lnTo>
                  <a:pt x="0" y="88563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3" name="TextBox 53"/>
          <p:cNvSpPr txBox="1"/>
          <p:nvPr/>
        </p:nvSpPr>
        <p:spPr>
          <a:xfrm>
            <a:off x="1028700" y="774738"/>
            <a:ext cx="15953694" cy="114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800"/>
              </a:lnSpc>
            </a:pPr>
            <a:r>
              <a:rPr lang="en-US" sz="8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How final scores are produced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25131" y="2715055"/>
            <a:ext cx="6045199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Plain text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1026142" y="2715055"/>
            <a:ext cx="6045199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Math equations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915327" y="3745720"/>
            <a:ext cx="216089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Ł(w) - logit vector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915327" y="6441541"/>
            <a:ext cx="216089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w* - final weights 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915327" y="5093526"/>
            <a:ext cx="216089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p(w) - prediction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334258" y="3732334"/>
            <a:ext cx="5636072" cy="376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034"/>
              </a:lnSpc>
              <a:spcBef>
                <a:spcPct val="0"/>
              </a:spcBef>
            </a:pPr>
            <a:r>
              <a:rPr lang="en-US" sz="2167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Build a combined logit vector over rep</a:t>
            </a:r>
            <a:r>
              <a:rPr lang="en-US" sz="2167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ositories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334258" y="6236426"/>
            <a:ext cx="5636072" cy="759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034"/>
              </a:lnSpc>
              <a:spcBef>
                <a:spcPct val="0"/>
              </a:spcBef>
            </a:pPr>
            <a:r>
              <a:rPr lang="en-US" sz="2167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Human labels are signed log-multipliers c​. Fit weights by minimizi</a:t>
            </a:r>
            <a:r>
              <a:rPr lang="en-US" sz="2167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ng squared disagreement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334258" y="7584441"/>
            <a:ext cx="5636072" cy="759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034"/>
              </a:lnSpc>
              <a:spcBef>
                <a:spcPct val="0"/>
              </a:spcBef>
            </a:pPr>
            <a:r>
              <a:rPr lang="en-US" sz="2167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Combine logit per repository, then exponentiate to get the final score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334258" y="4888516"/>
            <a:ext cx="5636072" cy="759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034"/>
              </a:lnSpc>
              <a:spcBef>
                <a:spcPct val="0"/>
              </a:spcBef>
            </a:pPr>
            <a:r>
              <a:rPr lang="en-US" sz="2167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For each human-labeled comparison between rep</a:t>
            </a:r>
            <a:r>
              <a:rPr lang="en-US" sz="2167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ositories (A, B), the ensemble predicts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3859846" y="8892540"/>
            <a:ext cx="10568308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</a:pPr>
            <a:r>
              <a:rPr lang="en-US" sz="2100">
                <a:solidFill>
                  <a:srgbClr val="000000">
                    <a:alpha val="4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indexes: i models, j repositories, k human-labeled comparisons (a, b)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58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567560" y="1735624"/>
            <a:ext cx="5165188" cy="4946182"/>
            <a:chOff x="0" y="0"/>
            <a:chExt cx="6886918" cy="6594910"/>
          </a:xfrm>
        </p:grpSpPr>
        <p:sp>
          <p:nvSpPr>
            <p:cNvPr id="3" name="Freeform 3"/>
            <p:cNvSpPr/>
            <p:nvPr/>
          </p:nvSpPr>
          <p:spPr>
            <a:xfrm rot="857373">
              <a:off x="1091568" y="494601"/>
              <a:ext cx="4703782" cy="5552715"/>
            </a:xfrm>
            <a:custGeom>
              <a:avLst/>
              <a:gdLst/>
              <a:ahLst/>
              <a:cxnLst/>
              <a:rect l="l" t="t" r="r" b="b"/>
              <a:pathLst>
                <a:path w="4703782" h="5552715">
                  <a:moveTo>
                    <a:pt x="0" y="0"/>
                  </a:moveTo>
                  <a:lnTo>
                    <a:pt x="4703782" y="0"/>
                  </a:lnTo>
                  <a:lnTo>
                    <a:pt x="4703782" y="5552716"/>
                  </a:lnTo>
                  <a:lnTo>
                    <a:pt x="0" y="555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 rot="6691162">
              <a:off x="1092987" y="615802"/>
              <a:ext cx="4700943" cy="5549364"/>
            </a:xfrm>
            <a:custGeom>
              <a:avLst/>
              <a:gdLst/>
              <a:ahLst/>
              <a:cxnLst/>
              <a:rect l="l" t="t" r="r" b="b"/>
              <a:pathLst>
                <a:path w="4700943" h="5549364">
                  <a:moveTo>
                    <a:pt x="0" y="0"/>
                  </a:moveTo>
                  <a:lnTo>
                    <a:pt x="4700943" y="0"/>
                  </a:lnTo>
                  <a:lnTo>
                    <a:pt x="4700943" y="5549364"/>
                  </a:lnTo>
                  <a:lnTo>
                    <a:pt x="0" y="5549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665861" y="1735624"/>
            <a:ext cx="5165188" cy="4946182"/>
            <a:chOff x="0" y="0"/>
            <a:chExt cx="6886918" cy="6594910"/>
          </a:xfrm>
        </p:grpSpPr>
        <p:sp>
          <p:nvSpPr>
            <p:cNvPr id="6" name="Freeform 6"/>
            <p:cNvSpPr/>
            <p:nvPr/>
          </p:nvSpPr>
          <p:spPr>
            <a:xfrm rot="857373">
              <a:off x="1091568" y="494601"/>
              <a:ext cx="4703782" cy="5552715"/>
            </a:xfrm>
            <a:custGeom>
              <a:avLst/>
              <a:gdLst/>
              <a:ahLst/>
              <a:cxnLst/>
              <a:rect l="l" t="t" r="r" b="b"/>
              <a:pathLst>
                <a:path w="4703782" h="5552715">
                  <a:moveTo>
                    <a:pt x="0" y="0"/>
                  </a:moveTo>
                  <a:lnTo>
                    <a:pt x="4703782" y="0"/>
                  </a:lnTo>
                  <a:lnTo>
                    <a:pt x="4703782" y="5552716"/>
                  </a:lnTo>
                  <a:lnTo>
                    <a:pt x="0" y="555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 rot="6691162">
              <a:off x="1092987" y="615802"/>
              <a:ext cx="4700943" cy="5549364"/>
            </a:xfrm>
            <a:custGeom>
              <a:avLst/>
              <a:gdLst/>
              <a:ahLst/>
              <a:cxnLst/>
              <a:rect l="l" t="t" r="r" b="b"/>
              <a:pathLst>
                <a:path w="4700943" h="5549364">
                  <a:moveTo>
                    <a:pt x="0" y="0"/>
                  </a:moveTo>
                  <a:lnTo>
                    <a:pt x="4700943" y="0"/>
                  </a:lnTo>
                  <a:lnTo>
                    <a:pt x="4700943" y="5549364"/>
                  </a:lnTo>
                  <a:lnTo>
                    <a:pt x="0" y="5549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263237" y="6767154"/>
            <a:ext cx="5529079" cy="4202100"/>
          </a:xfrm>
          <a:custGeom>
            <a:avLst/>
            <a:gdLst/>
            <a:ahLst/>
            <a:cxnLst/>
            <a:rect l="l" t="t" r="r" b="b"/>
            <a:pathLst>
              <a:path w="5529079" h="4202100">
                <a:moveTo>
                  <a:pt x="0" y="0"/>
                </a:moveTo>
                <a:lnTo>
                  <a:pt x="5529079" y="0"/>
                </a:lnTo>
                <a:lnTo>
                  <a:pt x="5529079" y="4202100"/>
                </a:lnTo>
                <a:lnTo>
                  <a:pt x="0" y="42021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7314903" y="3729608"/>
            <a:ext cx="3670502" cy="1024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19"/>
              </a:lnSpc>
              <a:spcBef>
                <a:spcPct val="0"/>
              </a:spcBef>
            </a:pPr>
            <a:r>
              <a:rPr lang="en-US" sz="71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7</a:t>
            </a:r>
            <a:r>
              <a:rPr lang="en-US" sz="7199" u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2.92%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413204" y="3729608"/>
            <a:ext cx="3670502" cy="1024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19"/>
              </a:lnSpc>
              <a:spcBef>
                <a:spcPct val="0"/>
              </a:spcBef>
            </a:pPr>
            <a:r>
              <a:rPr lang="en-US" sz="71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60.42</a:t>
            </a:r>
            <a:r>
              <a:rPr lang="en-US" sz="7199" u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%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7441606" y="7242137"/>
            <a:ext cx="3417096" cy="1311742"/>
            <a:chOff x="0" y="0"/>
            <a:chExt cx="4556128" cy="1748989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47625"/>
              <a:ext cx="4556128" cy="1083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399" b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DHJ</a:t>
              </a:r>
            </a:p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399" b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(Ensemble of 14 LLMs)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352749"/>
              <a:ext cx="4556128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539907" y="7242137"/>
            <a:ext cx="3417096" cy="1311742"/>
            <a:chOff x="0" y="0"/>
            <a:chExt cx="4556128" cy="1748989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47625"/>
              <a:ext cx="4556128" cy="1083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AI-</a:t>
              </a:r>
              <a:r>
                <a:rPr lang="en-US" sz="2400" b="1" u="none" strike="noStrike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only least-weighted (Grok 3)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1352749"/>
              <a:ext cx="4556128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63118" y="2064298"/>
            <a:ext cx="4386469" cy="1540029"/>
            <a:chOff x="0" y="0"/>
            <a:chExt cx="5848625" cy="2053372"/>
          </a:xfrm>
        </p:grpSpPr>
        <p:sp>
          <p:nvSpPr>
            <p:cNvPr id="18" name="TextBox 18"/>
            <p:cNvSpPr txBox="1"/>
            <p:nvPr/>
          </p:nvSpPr>
          <p:spPr>
            <a:xfrm>
              <a:off x="0" y="57150"/>
              <a:ext cx="5848625" cy="10790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160"/>
                </a:lnSpc>
              </a:pPr>
              <a:r>
                <a:rPr lang="en-US" sz="560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rPr>
                <a:t>Results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1528227"/>
              <a:ext cx="5848625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399" b="1" u="none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Primary metric: </a:t>
              </a:r>
              <a:r>
                <a:rPr lang="en-US" sz="2399" u="none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Agreement rate 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824513" y="4095953"/>
            <a:ext cx="749582" cy="682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347"/>
              </a:lnSpc>
            </a:pPr>
            <a:r>
              <a:rPr lang="en-US" sz="4861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vs.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63118" y="3682568"/>
            <a:ext cx="4386469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Percent of pairwise comparisons where LLMs and the jury choose the same repo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63118" y="4867478"/>
            <a:ext cx="4386469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Test set:</a:t>
            </a:r>
            <a:r>
              <a:rPr lang="en-US" sz="21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96 comparisons 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Unique repositories:</a:t>
            </a:r>
            <a:r>
              <a:rPr lang="en-US" sz="21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47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Jurors:</a:t>
            </a:r>
            <a:r>
              <a:rPr lang="en-US" sz="21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37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4157418"/>
            <a:ext cx="7747777" cy="1039544"/>
            <a:chOff x="0" y="0"/>
            <a:chExt cx="2635735" cy="3536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35735" cy="353645"/>
            </a:xfrm>
            <a:custGeom>
              <a:avLst/>
              <a:gdLst/>
              <a:ahLst/>
              <a:cxnLst/>
              <a:rect l="l" t="t" r="r" b="b"/>
              <a:pathLst>
                <a:path w="2635735" h="353645">
                  <a:moveTo>
                    <a:pt x="0" y="0"/>
                  </a:moveTo>
                  <a:lnTo>
                    <a:pt x="2635735" y="0"/>
                  </a:lnTo>
                  <a:lnTo>
                    <a:pt x="2635735" y="353645"/>
                  </a:lnTo>
                  <a:lnTo>
                    <a:pt x="0" y="3536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635735" cy="401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6938964"/>
            <a:ext cx="7747777" cy="1039544"/>
            <a:chOff x="0" y="0"/>
            <a:chExt cx="2635735" cy="35364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35735" cy="353645"/>
            </a:xfrm>
            <a:custGeom>
              <a:avLst/>
              <a:gdLst/>
              <a:ahLst/>
              <a:cxnLst/>
              <a:rect l="l" t="t" r="r" b="b"/>
              <a:pathLst>
                <a:path w="2635735" h="353645">
                  <a:moveTo>
                    <a:pt x="0" y="0"/>
                  </a:moveTo>
                  <a:lnTo>
                    <a:pt x="2635735" y="0"/>
                  </a:lnTo>
                  <a:lnTo>
                    <a:pt x="2635735" y="353645"/>
                  </a:lnTo>
                  <a:lnTo>
                    <a:pt x="0" y="3536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635735" cy="401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5505224"/>
            <a:ext cx="7747777" cy="1039544"/>
            <a:chOff x="0" y="0"/>
            <a:chExt cx="2635735" cy="35364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35735" cy="353645"/>
            </a:xfrm>
            <a:custGeom>
              <a:avLst/>
              <a:gdLst/>
              <a:ahLst/>
              <a:cxnLst/>
              <a:rect l="l" t="t" r="r" b="b"/>
              <a:pathLst>
                <a:path w="2635735" h="353645">
                  <a:moveTo>
                    <a:pt x="0" y="0"/>
                  </a:moveTo>
                  <a:lnTo>
                    <a:pt x="2635735" y="0"/>
                  </a:lnTo>
                  <a:lnTo>
                    <a:pt x="2635735" y="353645"/>
                  </a:lnTo>
                  <a:lnTo>
                    <a:pt x="0" y="3536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635735" cy="401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8286770"/>
            <a:ext cx="7747777" cy="1039544"/>
            <a:chOff x="0" y="0"/>
            <a:chExt cx="2635735" cy="35364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635735" cy="353645"/>
            </a:xfrm>
            <a:custGeom>
              <a:avLst/>
              <a:gdLst/>
              <a:ahLst/>
              <a:cxnLst/>
              <a:rect l="l" t="t" r="r" b="b"/>
              <a:pathLst>
                <a:path w="2635735" h="353645">
                  <a:moveTo>
                    <a:pt x="0" y="0"/>
                  </a:moveTo>
                  <a:lnTo>
                    <a:pt x="2635735" y="0"/>
                  </a:lnTo>
                  <a:lnTo>
                    <a:pt x="2635735" y="353645"/>
                  </a:lnTo>
                  <a:lnTo>
                    <a:pt x="0" y="3536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2635735" cy="401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212007" y="4157418"/>
            <a:ext cx="7747777" cy="1039544"/>
            <a:chOff x="0" y="0"/>
            <a:chExt cx="2635735" cy="35364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635735" cy="353645"/>
            </a:xfrm>
            <a:custGeom>
              <a:avLst/>
              <a:gdLst/>
              <a:ahLst/>
              <a:cxnLst/>
              <a:rect l="l" t="t" r="r" b="b"/>
              <a:pathLst>
                <a:path w="2635735" h="353645">
                  <a:moveTo>
                    <a:pt x="0" y="0"/>
                  </a:moveTo>
                  <a:lnTo>
                    <a:pt x="2635735" y="0"/>
                  </a:lnTo>
                  <a:lnTo>
                    <a:pt x="2635735" y="353645"/>
                  </a:lnTo>
                  <a:lnTo>
                    <a:pt x="0" y="353645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2635735" cy="401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212007" y="6938964"/>
            <a:ext cx="7747777" cy="1039544"/>
            <a:chOff x="0" y="0"/>
            <a:chExt cx="2635735" cy="35364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635735" cy="353645"/>
            </a:xfrm>
            <a:custGeom>
              <a:avLst/>
              <a:gdLst/>
              <a:ahLst/>
              <a:cxnLst/>
              <a:rect l="l" t="t" r="r" b="b"/>
              <a:pathLst>
                <a:path w="2635735" h="353645">
                  <a:moveTo>
                    <a:pt x="0" y="0"/>
                  </a:moveTo>
                  <a:lnTo>
                    <a:pt x="2635735" y="0"/>
                  </a:lnTo>
                  <a:lnTo>
                    <a:pt x="2635735" y="353645"/>
                  </a:lnTo>
                  <a:lnTo>
                    <a:pt x="0" y="353645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2635735" cy="401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212007" y="5505224"/>
            <a:ext cx="7747777" cy="1039544"/>
            <a:chOff x="0" y="0"/>
            <a:chExt cx="2635735" cy="35364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635735" cy="353645"/>
            </a:xfrm>
            <a:custGeom>
              <a:avLst/>
              <a:gdLst/>
              <a:ahLst/>
              <a:cxnLst/>
              <a:rect l="l" t="t" r="r" b="b"/>
              <a:pathLst>
                <a:path w="2635735" h="353645">
                  <a:moveTo>
                    <a:pt x="0" y="0"/>
                  </a:moveTo>
                  <a:lnTo>
                    <a:pt x="2635735" y="0"/>
                  </a:lnTo>
                  <a:lnTo>
                    <a:pt x="2635735" y="353645"/>
                  </a:lnTo>
                  <a:lnTo>
                    <a:pt x="0" y="353645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2635735" cy="401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212007" y="8286770"/>
            <a:ext cx="7747777" cy="1039544"/>
            <a:chOff x="0" y="0"/>
            <a:chExt cx="2635735" cy="35364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635735" cy="353645"/>
            </a:xfrm>
            <a:custGeom>
              <a:avLst/>
              <a:gdLst/>
              <a:ahLst/>
              <a:cxnLst/>
              <a:rect l="l" t="t" r="r" b="b"/>
              <a:pathLst>
                <a:path w="2635735" h="353645">
                  <a:moveTo>
                    <a:pt x="0" y="0"/>
                  </a:moveTo>
                  <a:lnTo>
                    <a:pt x="2635735" y="0"/>
                  </a:lnTo>
                  <a:lnTo>
                    <a:pt x="2635735" y="353645"/>
                  </a:lnTo>
                  <a:lnTo>
                    <a:pt x="0" y="353645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2635735" cy="401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028700" y="774738"/>
            <a:ext cx="15953694" cy="114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800"/>
              </a:lnSpc>
            </a:pPr>
            <a:r>
              <a:rPr lang="en-US" sz="8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Performance Comparison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25131" y="3448088"/>
            <a:ext cx="6045199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DHJ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026142" y="3448088"/>
            <a:ext cx="6045199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AI-</a:t>
            </a:r>
            <a:r>
              <a:rPr lang="en-US" sz="2799" b="1" u="none" strike="noStrik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only least-weighted (Grok 3)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702599" y="2156498"/>
            <a:ext cx="10568308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Benchm</a:t>
            </a:r>
            <a:r>
              <a:rPr lang="en-US" sz="2400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arking DHJ  versus AI-only least-weighted (Grok3) on test-set</a:t>
            </a:r>
          </a:p>
        </p:txBody>
      </p:sp>
      <p:sp>
        <p:nvSpPr>
          <p:cNvPr id="30" name="AutoShape 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57000" y="4869343"/>
            <a:ext cx="74483" cy="3973647"/>
          </a:xfrm>
          <a:prstGeom prst="rect">
            <a:avLst/>
          </a:prstGeom>
          <a:solidFill>
            <a:srgbClr val="264C3D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31" name="Group 31"/>
          <p:cNvGrpSpPr/>
          <p:nvPr/>
        </p:nvGrpSpPr>
        <p:grpSpPr>
          <a:xfrm>
            <a:off x="7532645" y="4074621"/>
            <a:ext cx="2923194" cy="1205140"/>
            <a:chOff x="0" y="0"/>
            <a:chExt cx="994448" cy="40998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94449" cy="409980"/>
            </a:xfrm>
            <a:custGeom>
              <a:avLst/>
              <a:gdLst/>
              <a:ahLst/>
              <a:cxnLst/>
              <a:rect l="l" t="t" r="r" b="b"/>
              <a:pathLst>
                <a:path w="994449" h="409980">
                  <a:moveTo>
                    <a:pt x="90047" y="0"/>
                  </a:moveTo>
                  <a:lnTo>
                    <a:pt x="904401" y="0"/>
                  </a:lnTo>
                  <a:cubicBezTo>
                    <a:pt x="928283" y="0"/>
                    <a:pt x="951187" y="9487"/>
                    <a:pt x="968074" y="26374"/>
                  </a:cubicBezTo>
                  <a:cubicBezTo>
                    <a:pt x="984961" y="43261"/>
                    <a:pt x="994449" y="66165"/>
                    <a:pt x="994449" y="90047"/>
                  </a:cubicBezTo>
                  <a:lnTo>
                    <a:pt x="994449" y="319932"/>
                  </a:lnTo>
                  <a:cubicBezTo>
                    <a:pt x="994449" y="343814"/>
                    <a:pt x="984961" y="366718"/>
                    <a:pt x="968074" y="383605"/>
                  </a:cubicBezTo>
                  <a:cubicBezTo>
                    <a:pt x="951187" y="400492"/>
                    <a:pt x="928283" y="409980"/>
                    <a:pt x="904401" y="409980"/>
                  </a:cubicBezTo>
                  <a:lnTo>
                    <a:pt x="90047" y="409980"/>
                  </a:lnTo>
                  <a:cubicBezTo>
                    <a:pt x="66165" y="409980"/>
                    <a:pt x="43261" y="400492"/>
                    <a:pt x="26374" y="383605"/>
                  </a:cubicBezTo>
                  <a:cubicBezTo>
                    <a:pt x="9487" y="366718"/>
                    <a:pt x="0" y="343814"/>
                    <a:pt x="0" y="319932"/>
                  </a:cubicBezTo>
                  <a:lnTo>
                    <a:pt x="0" y="90047"/>
                  </a:lnTo>
                  <a:cubicBezTo>
                    <a:pt x="0" y="66165"/>
                    <a:pt x="9487" y="43261"/>
                    <a:pt x="26374" y="26374"/>
                  </a:cubicBezTo>
                  <a:cubicBezTo>
                    <a:pt x="43261" y="9487"/>
                    <a:pt x="66165" y="0"/>
                    <a:pt x="90047" y="0"/>
                  </a:cubicBezTo>
                  <a:close/>
                </a:path>
              </a:pathLst>
            </a:custGeom>
            <a:solidFill>
              <a:srgbClr val="63B8A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994448" cy="4576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532645" y="6856166"/>
            <a:ext cx="2923194" cy="1205140"/>
            <a:chOff x="0" y="0"/>
            <a:chExt cx="994448" cy="40998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94449" cy="409980"/>
            </a:xfrm>
            <a:custGeom>
              <a:avLst/>
              <a:gdLst/>
              <a:ahLst/>
              <a:cxnLst/>
              <a:rect l="l" t="t" r="r" b="b"/>
              <a:pathLst>
                <a:path w="994449" h="409980">
                  <a:moveTo>
                    <a:pt x="90047" y="0"/>
                  </a:moveTo>
                  <a:lnTo>
                    <a:pt x="904401" y="0"/>
                  </a:lnTo>
                  <a:cubicBezTo>
                    <a:pt x="928283" y="0"/>
                    <a:pt x="951187" y="9487"/>
                    <a:pt x="968074" y="26374"/>
                  </a:cubicBezTo>
                  <a:cubicBezTo>
                    <a:pt x="984961" y="43261"/>
                    <a:pt x="994449" y="66165"/>
                    <a:pt x="994449" y="90047"/>
                  </a:cubicBezTo>
                  <a:lnTo>
                    <a:pt x="994449" y="319932"/>
                  </a:lnTo>
                  <a:cubicBezTo>
                    <a:pt x="994449" y="343814"/>
                    <a:pt x="984961" y="366718"/>
                    <a:pt x="968074" y="383605"/>
                  </a:cubicBezTo>
                  <a:cubicBezTo>
                    <a:pt x="951187" y="400492"/>
                    <a:pt x="928283" y="409980"/>
                    <a:pt x="904401" y="409980"/>
                  </a:cubicBezTo>
                  <a:lnTo>
                    <a:pt x="90047" y="409980"/>
                  </a:lnTo>
                  <a:cubicBezTo>
                    <a:pt x="66165" y="409980"/>
                    <a:pt x="43261" y="400492"/>
                    <a:pt x="26374" y="383605"/>
                  </a:cubicBezTo>
                  <a:cubicBezTo>
                    <a:pt x="9487" y="366718"/>
                    <a:pt x="0" y="343814"/>
                    <a:pt x="0" y="319932"/>
                  </a:cubicBezTo>
                  <a:lnTo>
                    <a:pt x="0" y="90047"/>
                  </a:lnTo>
                  <a:cubicBezTo>
                    <a:pt x="0" y="66165"/>
                    <a:pt x="9487" y="43261"/>
                    <a:pt x="26374" y="26374"/>
                  </a:cubicBezTo>
                  <a:cubicBezTo>
                    <a:pt x="43261" y="9487"/>
                    <a:pt x="66165" y="0"/>
                    <a:pt x="90047" y="0"/>
                  </a:cubicBezTo>
                  <a:close/>
                </a:path>
              </a:pathLst>
            </a:custGeom>
            <a:solidFill>
              <a:srgbClr val="63B8A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47625"/>
              <a:ext cx="994448" cy="4576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532645" y="5422427"/>
            <a:ext cx="2923194" cy="1205140"/>
            <a:chOff x="0" y="0"/>
            <a:chExt cx="994448" cy="40998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94449" cy="409980"/>
            </a:xfrm>
            <a:custGeom>
              <a:avLst/>
              <a:gdLst/>
              <a:ahLst/>
              <a:cxnLst/>
              <a:rect l="l" t="t" r="r" b="b"/>
              <a:pathLst>
                <a:path w="994449" h="409980">
                  <a:moveTo>
                    <a:pt x="90047" y="0"/>
                  </a:moveTo>
                  <a:lnTo>
                    <a:pt x="904401" y="0"/>
                  </a:lnTo>
                  <a:cubicBezTo>
                    <a:pt x="928283" y="0"/>
                    <a:pt x="951187" y="9487"/>
                    <a:pt x="968074" y="26374"/>
                  </a:cubicBezTo>
                  <a:cubicBezTo>
                    <a:pt x="984961" y="43261"/>
                    <a:pt x="994449" y="66165"/>
                    <a:pt x="994449" y="90047"/>
                  </a:cubicBezTo>
                  <a:lnTo>
                    <a:pt x="994449" y="319932"/>
                  </a:lnTo>
                  <a:cubicBezTo>
                    <a:pt x="994449" y="343814"/>
                    <a:pt x="984961" y="366718"/>
                    <a:pt x="968074" y="383605"/>
                  </a:cubicBezTo>
                  <a:cubicBezTo>
                    <a:pt x="951187" y="400492"/>
                    <a:pt x="928283" y="409980"/>
                    <a:pt x="904401" y="409980"/>
                  </a:cubicBezTo>
                  <a:lnTo>
                    <a:pt x="90047" y="409980"/>
                  </a:lnTo>
                  <a:cubicBezTo>
                    <a:pt x="66165" y="409980"/>
                    <a:pt x="43261" y="400492"/>
                    <a:pt x="26374" y="383605"/>
                  </a:cubicBezTo>
                  <a:cubicBezTo>
                    <a:pt x="9487" y="366718"/>
                    <a:pt x="0" y="343814"/>
                    <a:pt x="0" y="319932"/>
                  </a:cubicBezTo>
                  <a:lnTo>
                    <a:pt x="0" y="90047"/>
                  </a:lnTo>
                  <a:cubicBezTo>
                    <a:pt x="0" y="66165"/>
                    <a:pt x="9487" y="43261"/>
                    <a:pt x="26374" y="26374"/>
                  </a:cubicBezTo>
                  <a:cubicBezTo>
                    <a:pt x="43261" y="9487"/>
                    <a:pt x="66165" y="0"/>
                    <a:pt x="90047" y="0"/>
                  </a:cubicBezTo>
                  <a:close/>
                </a:path>
              </a:pathLst>
            </a:custGeom>
            <a:solidFill>
              <a:srgbClr val="4686C8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994448" cy="4576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532645" y="8203972"/>
            <a:ext cx="2923194" cy="1205140"/>
            <a:chOff x="0" y="0"/>
            <a:chExt cx="994448" cy="40998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94449" cy="409980"/>
            </a:xfrm>
            <a:custGeom>
              <a:avLst/>
              <a:gdLst/>
              <a:ahLst/>
              <a:cxnLst/>
              <a:rect l="l" t="t" r="r" b="b"/>
              <a:pathLst>
                <a:path w="994449" h="409980">
                  <a:moveTo>
                    <a:pt x="90047" y="0"/>
                  </a:moveTo>
                  <a:lnTo>
                    <a:pt x="904401" y="0"/>
                  </a:lnTo>
                  <a:cubicBezTo>
                    <a:pt x="928283" y="0"/>
                    <a:pt x="951187" y="9487"/>
                    <a:pt x="968074" y="26374"/>
                  </a:cubicBezTo>
                  <a:cubicBezTo>
                    <a:pt x="984961" y="43261"/>
                    <a:pt x="994449" y="66165"/>
                    <a:pt x="994449" y="90047"/>
                  </a:cubicBezTo>
                  <a:lnTo>
                    <a:pt x="994449" y="319932"/>
                  </a:lnTo>
                  <a:cubicBezTo>
                    <a:pt x="994449" y="343814"/>
                    <a:pt x="984961" y="366718"/>
                    <a:pt x="968074" y="383605"/>
                  </a:cubicBezTo>
                  <a:cubicBezTo>
                    <a:pt x="951187" y="400492"/>
                    <a:pt x="928283" y="409980"/>
                    <a:pt x="904401" y="409980"/>
                  </a:cubicBezTo>
                  <a:lnTo>
                    <a:pt x="90047" y="409980"/>
                  </a:lnTo>
                  <a:cubicBezTo>
                    <a:pt x="66165" y="409980"/>
                    <a:pt x="43261" y="400492"/>
                    <a:pt x="26374" y="383605"/>
                  </a:cubicBezTo>
                  <a:cubicBezTo>
                    <a:pt x="9487" y="366718"/>
                    <a:pt x="0" y="343814"/>
                    <a:pt x="0" y="319932"/>
                  </a:cubicBezTo>
                  <a:lnTo>
                    <a:pt x="0" y="90047"/>
                  </a:lnTo>
                  <a:cubicBezTo>
                    <a:pt x="0" y="66165"/>
                    <a:pt x="9487" y="43261"/>
                    <a:pt x="26374" y="26374"/>
                  </a:cubicBezTo>
                  <a:cubicBezTo>
                    <a:pt x="43261" y="9487"/>
                    <a:pt x="66165" y="0"/>
                    <a:pt x="90047" y="0"/>
                  </a:cubicBezTo>
                  <a:close/>
                </a:path>
              </a:pathLst>
            </a:custGeom>
            <a:solidFill>
              <a:srgbClr val="4686C8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994448" cy="4576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7915327" y="4478753"/>
            <a:ext cx="216089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Agreement rate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915327" y="7260299"/>
            <a:ext cx="216089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RMSE (ln)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915327" y="5826559"/>
            <a:ext cx="216089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</a:t>
            </a:r>
            <a:r>
              <a:rPr lang="en-US" sz="1999" b="1" u="none" strike="noStrik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orrelation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915327" y="8608105"/>
            <a:ext cx="216089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MAE (ln)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334258" y="4450496"/>
            <a:ext cx="5636072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72.92%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334258" y="7232041"/>
            <a:ext cx="5636072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2.3768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334258" y="5798302"/>
            <a:ext cx="5636072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0.5481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334258" y="8579847"/>
            <a:ext cx="5636072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1.7509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026142" y="4450496"/>
            <a:ext cx="5618179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60.42%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026142" y="7232041"/>
            <a:ext cx="5618179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2.6101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026142" y="5798302"/>
            <a:ext cx="5618179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0.4704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026142" y="8579847"/>
            <a:ext cx="5618179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2.0173</a:t>
            </a:r>
          </a:p>
        </p:txBody>
      </p:sp>
      <p:sp>
        <p:nvSpPr>
          <p:cNvPr id="55" name="Freeform 5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12964" y="453855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6" name="Freeform 5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04634" y="587788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7" name="Freeform 5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74881" y="735798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8" name="Freeform 5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74881" y="871289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9" name="Freeform 5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91452" y="451299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0" name="Freeform 6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83122" y="585231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1" name="Freeform 6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53370" y="733241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2" name="Freeform 6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53370" y="868733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9906" y="778548"/>
            <a:ext cx="15953694" cy="114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800"/>
              </a:lnSpc>
            </a:pPr>
            <a:r>
              <a:rPr lang="en-US" sz="8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702599" y="2156498"/>
            <a:ext cx="10568308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Wh</a:t>
            </a:r>
            <a:r>
              <a:rPr lang="en-US" sz="2400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ere DHJ succeeds and fails</a:t>
            </a:r>
          </a:p>
        </p:txBody>
      </p:sp>
      <p:sp>
        <p:nvSpPr>
          <p:cNvPr id="4" name="Freeform 4"/>
          <p:cNvSpPr/>
          <p:nvPr/>
        </p:nvSpPr>
        <p:spPr>
          <a:xfrm>
            <a:off x="9144000" y="2838488"/>
            <a:ext cx="8115300" cy="5072063"/>
          </a:xfrm>
          <a:custGeom>
            <a:avLst/>
            <a:gdLst/>
            <a:ahLst/>
            <a:cxnLst/>
            <a:rect l="l" t="t" r="r" b="b"/>
            <a:pathLst>
              <a:path w="8115300" h="5072063">
                <a:moveTo>
                  <a:pt x="0" y="0"/>
                </a:moveTo>
                <a:lnTo>
                  <a:pt x="8115300" y="0"/>
                </a:lnTo>
                <a:lnTo>
                  <a:pt x="8115300" y="5072063"/>
                </a:lnTo>
                <a:lnTo>
                  <a:pt x="0" y="50720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028700" y="2838488"/>
            <a:ext cx="8115300" cy="5072063"/>
          </a:xfrm>
          <a:custGeom>
            <a:avLst/>
            <a:gdLst/>
            <a:ahLst/>
            <a:cxnLst/>
            <a:rect l="l" t="t" r="r" b="b"/>
            <a:pathLst>
              <a:path w="8115300" h="5072063">
                <a:moveTo>
                  <a:pt x="0" y="0"/>
                </a:moveTo>
                <a:lnTo>
                  <a:pt x="8115300" y="0"/>
                </a:lnTo>
                <a:lnTo>
                  <a:pt x="8115300" y="5072063"/>
                </a:lnTo>
                <a:lnTo>
                  <a:pt x="0" y="50720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3B8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73016" y="1028700"/>
            <a:ext cx="6397389" cy="6397389"/>
          </a:xfrm>
          <a:custGeom>
            <a:avLst/>
            <a:gdLst/>
            <a:ahLst/>
            <a:cxnLst/>
            <a:rect l="l" t="t" r="r" b="b"/>
            <a:pathLst>
              <a:path w="6397389" h="6397389">
                <a:moveTo>
                  <a:pt x="0" y="0"/>
                </a:moveTo>
                <a:lnTo>
                  <a:pt x="6397389" y="0"/>
                </a:lnTo>
                <a:lnTo>
                  <a:pt x="6397389" y="6397389"/>
                </a:lnTo>
                <a:lnTo>
                  <a:pt x="0" y="63973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6102" t="-57288" r="-55962" b="-5560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7714799" y="7755545"/>
            <a:ext cx="2858401" cy="42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6"/>
              </a:lnSpc>
            </a:pPr>
            <a:r>
              <a:rPr lang="en-US" sz="3200" spc="-32">
                <a:solidFill>
                  <a:srgbClr val="264C3D"/>
                </a:solidFill>
                <a:latin typeface="Lora"/>
                <a:ea typeface="Lora"/>
                <a:cs typeface="Lora"/>
                <a:sym typeface="Lora"/>
              </a:rPr>
              <a:t>Thank you!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563249" y="8852535"/>
            <a:ext cx="3161502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</a:pPr>
            <a:r>
              <a:rPr lang="en-US" sz="2400" spc="96">
                <a:solidFill>
                  <a:srgbClr val="264C3D"/>
                </a:solidFill>
                <a:latin typeface="HK Grotesk"/>
                <a:ea typeface="HK Grotesk"/>
                <a:cs typeface="HK Grotesk"/>
                <a:sym typeface="HK Grotesk"/>
              </a:rPr>
              <a:t>Wars</a:t>
            </a:r>
            <a:r>
              <a:rPr lang="en-US" sz="2400" u="none" spc="96">
                <a:solidFill>
                  <a:srgbClr val="264C3D"/>
                </a:solidFill>
                <a:latin typeface="HK Grotesk"/>
                <a:ea typeface="HK Grotesk"/>
                <a:cs typeface="HK Grotesk"/>
                <a:sym typeface="HK Grotesk"/>
              </a:rPr>
              <a:t>aw,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396</Words>
  <Application>Microsoft Macintosh PowerPoint</Application>
  <PresentationFormat>Custom</PresentationFormat>
  <Paragraphs>80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HK Grotesk</vt:lpstr>
      <vt:lpstr>Calibri</vt:lpstr>
      <vt:lpstr>HK Grotesk Bold</vt:lpstr>
      <vt:lpstr>Lora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presentation</dc:title>
  <cp:lastModifiedBy>Arsen Rudnytskyi</cp:lastModifiedBy>
  <cp:revision>4</cp:revision>
  <dcterms:created xsi:type="dcterms:W3CDTF">2006-08-16T00:00:00Z</dcterms:created>
  <dcterms:modified xsi:type="dcterms:W3CDTF">2026-02-25T21:22:31Z</dcterms:modified>
  <dc:identifier>DAHCD2MFdZA</dc:identifier>
</cp:coreProperties>
</file>